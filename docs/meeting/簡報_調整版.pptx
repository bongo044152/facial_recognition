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2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5" r:id="rId17"/>
    <p:sldId id="274" r:id="rId18"/>
    <p:sldId id="277" r:id="rId19"/>
    <p:sldId id="278" r:id="rId20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74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我們希望先用 SD-MAE 找出可疑畫面，再用 AnomalyRuler 根據場景規則重新檢查，最後把兩邊結果合在一起。以自建校園資料集為主要方向，公開資料集用來試跑流程與比較。場景和模型做法仍需測試確認。以下內容是預計要做的工作。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希望幫忙減少人工查看影片的時間。相同動作出現在不同地方，可能有不同判斷。加入第二個模型是否能減少誤報，還需要測試。使用 Avenue 測試時，仍以資料集原本的答案為準。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依組員整理的文件，目前保留東華校園道路及校舍走廊／樓梯間兩個方向，還沒決定最後場景。前者協助查核逆向、跨線等行為，後者協助查看跌倒、衝突等事件。會先確認管理人員實際需要什麼，再挑少數事件開始做。優先挑需要看連續動作的事件。單純確認車輛進入某區或物品擋路，也可能用物件偵測加區域規則完成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自建資料集是主要策略，會依選定的東華場景蒐集正常與異常影片，記錄事件種類及開始、結束時間。公開資料可協助試跑流程、比較方法，必要時再評估預訓練或補充資料。使用前要確認事件定義、視角與交通規則是否相符。拍攝需確認許可與使用範圍，模擬事件以安全為前提。資料來源：組員提供的「新增 文字文件.md」。</a:t>
            </a:r>
          </a:p>
          <a:p>
            <a:endParaRPr/>
          </a:p>
          <a:p>
            <a:r>
              <a:t>https://www.cse.cuhk.edu.hk/leojia/projects/detectabnormal/dataset.html</a:t>
            </a:r>
          </a:p>
          <a:p>
            <a:r>
              <a:t>https://svip-lab.github.io/dataset/campus_dataset.html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使用者不需要從頭看完整部影片，可以先查看系統挑出的片段。畫面上會分開顯示兩個模型的結果及最後判斷。沒有交給第二個模型的片段，也會清楚標示。這些功能是預期成果。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SD-MAE 使用 Masked Autoencoder，也就是把部分影像遮住，再學習重建的模型。motion gradient 用來強調畫面中有變化的區域。我們先使用官方模型，不把它當成會直接說明異常原因的工具。影片抽幀則由我們另外製作。</a:t>
            </a:r>
          </a:p>
          <a:p>
            <a:endParaRPr/>
          </a:p>
          <a:p>
            <a:r>
              <a:t>https://arxiv.org/abs/2306.12041</a:t>
            </a:r>
          </a:p>
          <a:p>
            <a:r>
              <a:t>https://github.com/ristea/aed-mae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這篇論文分成兩部分：先整理規則，再照規則判斷。它也會參考相鄰畫面的描述，減少前後說法不一致的情況。換到新場景時，要重新確認規則適不適合。使用者自己寫規則的功能，留待之後再試。</a:t>
            </a:r>
          </a:p>
          <a:p>
            <a:endParaRPr/>
          </a:p>
          <a:p>
            <a:r>
              <a:t>https://arxiv.org/abs/2407.10299</a:t>
            </a:r>
          </a:p>
          <a:p>
            <a:r>
              <a:t>https://github.com/Yuchen413/AnomalyRuler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本專題主要用 SD-MAE 與 AnomalyRuler。前者負責先找，後者負責再看一次並說明原因。LaGoVAD 可以用文字描述想找的異常，暫時列為後續比較方向。</a:t>
            </a:r>
          </a:p>
          <a:p>
            <a:endParaRPr/>
          </a:p>
          <a:p>
            <a:r>
              <a:t>https://arxiv.org/abs/2306.12041</a:t>
            </a:r>
          </a:p>
          <a:p>
            <a:r>
              <a:t>https://arxiv.org/abs/2407.10299</a:t>
            </a:r>
          </a:p>
          <a:p>
            <a:r>
              <a:t>https://proceedings.iclr.cc/paper_files/paper/2026/hash/f88bec15cc4cb56b432ee040bb63f94f-Abstract-Conference.html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我們先把影片抽成圖片，保存圖片順序和原始時間。SD-MAE 給每張圖片分數，超過門檻的畫面整理成片段後，交給 AnomalyRuler。它會參考場景規則重新檢查。最後把兩個模型的結果合在一起，顯示結果與理由。規則可以事先整理並保存。</a:t>
            </a:r>
          </a:p>
          <a:p>
            <a:endParaRPr/>
          </a:p>
          <a:p>
            <a:r>
              <a:t>https://github.com/ristea/aed-mae</a:t>
            </a:r>
          </a:p>
          <a:p>
            <a:r>
              <a:t>https://github.com/Yuchen413/AnomalyRuler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目前使用的 SD-MAE 程式沒有提供我們需要的影片抽幀功能，因此這部分由我們自己完成。前處理包括讀取影片、抽幀、圖片命名、時間紀錄與模型所需格式整理。抽幀間隔會依模型輸入需求決定，不能只為了加速就任意跳過畫面。若影片每秒幀數會變動，時間紀錄以影片原始時間為準。</a:t>
            </a:r>
          </a:p>
          <a:p>
            <a:endParaRPr/>
          </a:p>
          <a:p>
            <a:r>
              <a:t>https://github.com/ristea/aed-mae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這裡的取圖是為第二階段挑選圖片，與前面把影片抽成 SD-MAE 輸入圖片的步驟不同。前後各加 1 秒、間隔不超過 1 秒就合併，可以當作最初嘗試，不代表最佳設定。抽太少張可能漏掉短暫動作。不同影片的圖片不會混在一起。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AnomalyRuler 需要看到原始圖片，不能只收到 SD-MAE 的分數。使用已有規則前，會先確認規則是否適合目前場景。它也會參考相鄰畫面，並再次檢查初步回答。這些步驟的目的是减少看錯畫面或前後判斷不一致的情況。</a:t>
            </a:r>
          </a:p>
          <a:p>
            <a:endParaRPr/>
          </a:p>
          <a:p>
            <a:r>
              <a:t>https://github.com/Yuchen413/AnomalyRuler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兩個模型的輸出形式不同，所以不能直接把原始數值相加。第一個分數會先用調整用資料固定成 0 到 1 的範圍，再嘗試取片段分數的第 95 百分位數，也就是接近高分端但避開最高單點的代表值。第二個分數先用異常圖片的比例。成功判斷的圖片太少時，就不做加權，改標示未完成。這些都是我們提出的初版做法，還需要比較後決定。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片段甲的計算是 0.6×0.80+0.4×0.25=0.58。片段乙是 0.6×0.45+0.4×1.00=0.67。第二個模型失敗時，不會把它當作零分或正常。若加權結果與第二個模型的判斷不同，畫面會把兩者分開顯示，讓使用者看得出差異。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門檻太高可能漏掉事件，太低又會讓第二個模型處理太多片段。我們要測試兩者怎麼取捨。如果很多真的異常都拿到低分，就要重新考慮第一階段的篩選方式，不能直接說兩階段一定比較好。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新增自建校園資料集作為預計貢獻，除了蒐集影片，也會訂出事件定義、標註規則、資料分組及比較方式。是否有用，需要透過測試確認。自行抽幀仍保留為我們的實作工作，目前使用的 SD-MAE 程式没有提供我們需要的影片抽幀功能，因此要自己完成圖片整理及時間對應。其餘工作包含片段整理、模型串接及回放，不把抽幀本身說成新的模型方法。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先選一個場景及少數事件把資料和流程做好，再擴充資料變化。模擬影片的結果不能直接代表真實突發事件也能處理好。之後再測試使用者指定規則、連續影像與 LaGoVAD。是否能即時處理，要量測速度後再決定。</a:t>
            </a:r>
          </a:p>
          <a:p>
            <a:endParaRPr/>
          </a:p>
          <a:p>
            <a:r>
              <a:t>https://proceedings.iclr.cc/paper_files/paper/2026/hash/f88bec15cc4cb56b432ee040bb63f94f-Abstract-Conference.html</a:t>
            </a:r>
          </a:p>
          <a:p>
            <a:r>
              <a:t>https://svip-lab.github.io/dataset/campus_dataset.html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SD-MAE 與 AnomalyRuler 的論文和官方程式碼連結。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LaGoVAD 先列為後續比較方向。資料集使用官方影片與異常標記。</a:t>
            </a:r>
          </a:p>
          <a:p>
            <a:endParaRPr/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3FB06E67-7E14-4937-998E-2B18EDF9E4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E014A3A3-3E26-4C29-B1F2-EA88E7EEF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CF93B231-3C46-4283-B492-99310F40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5AB8D576-76E4-44FE-91A2-23937228F5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73C42644-7FFF-468D-8BF1-A886B3A99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6CE3C46-A1F2-4B34-8DB6-4DF2F2905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199BEC9C-1B6F-43C2-92BF-9F3ED47AB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449C96FF-B0BC-422E-B224-CEE6FC66B8C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C4EDE981-4222-4E50-AC02-F90E8D5728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F131BC44-16D4-4E21-BFBC-C5C7B6195F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6.12041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github.com/Yuchen413/AnomalyRuler" TargetMode="External"/><Relationship Id="rId5" Type="http://schemas.openxmlformats.org/officeDocument/2006/relationships/hyperlink" Target="https://arxiv.org/abs/2407.10299" TargetMode="External"/><Relationship Id="rId4" Type="http://schemas.openxmlformats.org/officeDocument/2006/relationships/hyperlink" Target="https://github.com/ristea/aed-mae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503.13160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svip-lab.github.io/dataset/campus_dataset.html" TargetMode="External"/><Relationship Id="rId4" Type="http://schemas.openxmlformats.org/officeDocument/2006/relationships/hyperlink" Target="https://www.cse.cuhk.edu.hk/leojia/projects/detectabnormal/dataset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C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A77C16A4-8F54-4D29-9D15-7C7D4C2F4959}"/>
              </a:ext>
            </a:extLst>
          </p:cNvPr>
          <p:cNvSpPr>
            <a:spLocks noGrp="1"/>
          </p:cNvSpPr>
          <p:nvPr/>
        </p:nvSpPr>
        <p:spPr>
          <a:xfrm>
            <a:off x="762000" y="704850"/>
            <a:ext cx="9525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950" b="1">
                <a:solidFill>
                  <a:srgbClr val="83D1B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950" b="1">
                <a:solidFill>
                  <a:srgbClr val="83D1B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950" b="1">
                <a:solidFill>
                  <a:srgbClr val="83D1BC"/>
                </a:solidFill>
                <a:latin typeface="Microsoft JhengHei"/>
                <a:ea typeface="Microsoft JhengHei"/>
                <a:cs typeface="Microsoft JhengHei"/>
              </a:rPr>
              <a:t>專題題目提案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E2C8E12-1D6C-499E-A0AF-3D3FEFF8A478}"/>
              </a:ext>
            </a:extLst>
          </p:cNvPr>
          <p:cNvSpPr>
            <a:spLocks noGrp="1"/>
          </p:cNvSpPr>
          <p:nvPr/>
        </p:nvSpPr>
        <p:spPr>
          <a:xfrm>
            <a:off x="762000" y="1695450"/>
            <a:ext cx="10668000" cy="2762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結合視覺異常偵測</a:t>
            </a:r>
          </a:p>
          <a:p>
            <a:pPr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與場景規則推理的</a:t>
            </a:r>
          </a:p>
          <a:p>
            <a:pPr>
              <a:def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4200" b="1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</a:rPr>
              <a:t>兩階段影片異常偵測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F49063-E263-4DDA-85EF-FE4CF0B6EB53}"/>
              </a:ext>
            </a:extLst>
          </p:cNvPr>
          <p:cNvSpPr>
            <a:spLocks noGrp="1"/>
          </p:cNvSpPr>
          <p:nvPr/>
        </p:nvSpPr>
        <p:spPr>
          <a:xfrm>
            <a:off x="800100" y="5143500"/>
            <a:ext cx="9525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83D1BC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400" b="0">
                <a:solidFill>
                  <a:srgbClr val="83D1BC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400" b="0">
                <a:solidFill>
                  <a:srgbClr val="83D1BC"/>
                </a:solidFill>
                <a:latin typeface="Microsoft JhengHei"/>
                <a:ea typeface="Microsoft JhengHei"/>
                <a:cs typeface="Microsoft JhengHei"/>
              </a:rPr>
              <a:t>SD-MAE × AnomalyRuler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688ACA0-3BA8-4DC2-9B7D-ADECC6C5C560}"/>
              </a:ext>
            </a:extLst>
          </p:cNvPr>
          <p:cNvSpPr>
            <a:spLocks noGrp="1"/>
          </p:cNvSpPr>
          <p:nvPr/>
        </p:nvSpPr>
        <p:spPr>
          <a:xfrm>
            <a:off x="800100" y="5981700"/>
            <a:ext cx="95250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CFDCD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75" b="0">
                <a:solidFill>
                  <a:srgbClr val="CFDCD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75" b="0">
                <a:solidFill>
                  <a:srgbClr val="CFDCD9"/>
                </a:solidFill>
                <a:latin typeface="Microsoft JhengHei"/>
                <a:ea typeface="Microsoft JhengHei"/>
                <a:cs typeface="Microsoft JhengHei"/>
              </a:rPr>
              <a:t>研究提案 · 方法與實作規劃</a:t>
            </a:r>
          </a:p>
        </p:txBody>
      </p:sp>
    </p:spTree>
    <p:extLst>
      <p:ext uri="{BB962C8B-B14F-4D97-AF65-F5344CB8AC3E}">
        <p14:creationId xmlns:p14="http://schemas.microsoft.com/office/powerpoint/2010/main" val="1468563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E00ED7F-76EC-405D-86C1-F5951AB4D4D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A9B6113-188E-465C-A33F-A388533B56A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為什麼要做這個專題？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D88234-FA1C-4F1B-B7E8-147516CCAE94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02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A31AEE-2860-40CD-8CC0-C21F6C692F3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人工查看很花時間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6BC78E0-B778-4A44-856B-F912782725AD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監視器影片很長，靠人一直盯著看，容易錯過短暫發生的異常。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D126F8-750A-4F02-B525-CFB84A8C9667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畫面特別不一定有問題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A2DDDD2-C3A4-4488-B520-6C55B96B5773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例如突然跑步會讓畫面變化很大，但在運動場可能很正常。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1064650-FC93-4194-857F-C86D6BAC50F5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我們想做的事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36A2126-1E05-4966-8AA9-1999C3203628}"/>
              </a:ext>
            </a:extLst>
          </p:cNvPr>
          <p:cNvSpPr>
            <a:spLocks noGrp="1"/>
          </p:cNvSpPr>
          <p:nvPr/>
        </p:nvSpPr>
        <p:spPr>
          <a:xfrm>
            <a:off x="3524250" y="458152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先找出可疑片段，再依場景規則檢查，並告訴使用者為什麼需要注意。</a:t>
            </a:r>
          </a:p>
        </p:txBody>
      </p:sp>
    </p:spTree>
    <p:extLst>
      <p:ext uri="{BB962C8B-B14F-4D97-AF65-F5344CB8AC3E}">
        <p14:creationId xmlns:p14="http://schemas.microsoft.com/office/powerpoint/2010/main" val="772690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2302E68-81DC-4F68-A67D-D8A11F4E427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動機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91A7B19-745D-49D2-9501-BA09AC5D0C6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應用場景與使用者需求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7FFB666-6353-4611-9D20-6E771BD12F7D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03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F23CFCC-8632-42FA-BE21-D44E6AB9EC95}"/>
              </a:ext>
            </a:extLst>
          </p:cNvPr>
          <p:cNvGraphicFramePr/>
          <p:nvPr/>
        </p:nvGraphicFramePr>
        <p:xfrm>
          <a:off x="609600" y="1809750"/>
          <a:ext cx="10972800" cy="37147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8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候選場景／使用者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使用者需要什麼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先考慮的事件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校園道路</a:t>
                      </a:r>
                    </a:p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總務處、駐衛警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找到需要查核的異常行駛片段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逆向、跨線等行駛行為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校舍走廊／樓梯間</a:t>
                      </a:r>
                    </a:p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大樓管理員、校安人員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找到需要處理的突發事件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跌倒、推擠或衝突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5B457BC0-0BBA-42E0-B645-DCDF8CB2367A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1485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5C3EB5D-581F-4071-8B4C-8ABB1304851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資料集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7F35DBA-E26B-47F3-BE09-820224BB172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自建校園資料集為主</a:t>
            </a:r>
            <a:endParaRPr sz="3225" b="1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41465F-FABE-47E9-B4F3-9CB5C0A8041F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04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BBEEE4F1-C934-4AB0-81A6-AD607A23BE41}"/>
              </a:ext>
            </a:extLst>
          </p:cNvPr>
          <p:cNvGraphicFramePr/>
          <p:nvPr/>
        </p:nvGraphicFramePr>
        <p:xfrm>
          <a:off x="609600" y="1809750"/>
          <a:ext cx="10972800" cy="3714750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2382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資料來源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包含什麼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我們怎麼用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自建校園資料集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選定場景的正常與異常影片</a:t>
                      </a:r>
                    </a:p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標出事件開始與結束時間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主要資料來源</a:t>
                      </a:r>
                    </a:p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用來訓練、調整與測試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82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Avenue／ShanghaiTech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已有影片與異常標記</a:t>
                      </a:r>
                    </a:p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場景和事件可能與校園不同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先試跑流程、補充比較</a:t>
                      </a:r>
                    </a:p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使用前確認是否適合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1E045B3-D933-437E-8FC8-423BF02B874A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764315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E41DA481-DDC0-4A9C-AC87-5BA7357CAA4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預期結果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3562222-7050-4021-AD50-4FCDFB2D78E2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預期做出什麼功能？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F317A58-75C1-4BA8-B10D-310CD06A67C0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6D5A414-A6AC-4CB7-A1A0-78FEC726CF2F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找出可疑片段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64F857-5CC2-4E8D-BE06-09CC27022E83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輸入影片後，自動找出可能有問題的畫面，並標出發生時間。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E741D93-FABD-4852-A982-B4879F86ABDC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顯示判斷理由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AADFB7F-4C50-48C4-AA70-CFD17A2B6159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除了正常或異常，也顯示第二個模型的判斷理由，方便使用者確認。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06FA2BB-F120-41D3-B76F-8BC0A952A308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00" b="1" dirty="0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待定</a:t>
            </a:r>
            <a:endParaRPr sz="2100" b="1" dirty="0">
              <a:solidFill>
                <a:srgbClr val="007D7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E892D7-8361-45AC-9133-3E7AA5A2CFCC}"/>
              </a:ext>
            </a:extLst>
          </p:cNvPr>
          <p:cNvSpPr>
            <a:spLocks noGrp="1"/>
          </p:cNvSpPr>
          <p:nvPr/>
        </p:nvSpPr>
        <p:spPr>
          <a:xfrm>
            <a:off x="3524250" y="458152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待定。</a:t>
            </a:r>
            <a:endParaRPr sz="2175" b="0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1516551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CC6AF55-51DF-4FD9-8BD7-80687690672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參考論文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97653BC-EA74-4AF5-A33E-716120A30355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SD-MAE：找出可疑畫面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CE7D2F-1D14-4CC4-B95F-1353F640AB03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6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847F0AA-00BD-435D-80E9-14B84AD10B27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9728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r>
              <a:rPr lang="zh-TW" sz="1800">
                <a:solidFill>
                  <a:srgbClr val="172C30"/>
                </a:solidFill>
                <a:latin typeface="Microsoft JhengHei"/>
                <a:ea typeface="Microsoft JhengHei"/>
              </a:rPr>
              <a:t>試圖透過 Auto-Encoders 重新建立圖片，如果與預期相差過大，表示異常。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FC59D1F-8107-4262-9066-02A473361F74}"/>
              </a:ext>
            </a:extLst>
          </p:cNvPr>
          <p:cNvSpPr>
            <a:spLocks noGrp="1"/>
          </p:cNvSpPr>
          <p:nvPr/>
        </p:nvSpPr>
        <p:spPr>
          <a:xfrm>
            <a:off x="609600" y="2333625"/>
            <a:ext cx="5429250" cy="1504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r>
              <a:rPr lang="zh-TW" sz="2025">
                <a:solidFill>
                  <a:srgbClr val="172C30"/>
                </a:solidFill>
                <a:latin typeface="Microsoft JhengHei"/>
                <a:ea typeface="Microsoft JhengHei"/>
              </a:rPr>
              <a:t>Auto-Encoder 預期重新建構出「正常的影像」，因此偵測的前提是：</a:t>
            </a:r>
            <a:r>
              <a:rPr lang="zh-TW" sz="2025" b="1">
                <a:highlight>
                  <a:srgbClr val="FFF19A"/>
                </a:highlight>
                <a:latin typeface="Microsoft JhengHei"/>
                <a:ea typeface="Microsoft JhengHei"/>
              </a:rPr>
              <a:t>輸出與原圖差異越大，就越有可能是異常。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FA90B2C-C1B9-4C3F-9C4F-4F5CD955B40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5429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r>
              <a:rPr lang="zh-TW" sz="2025">
                <a:solidFill>
                  <a:srgbClr val="172C30"/>
                </a:solidFill>
                <a:latin typeface="Microsoft JhengHei"/>
                <a:ea typeface="Microsoft JhengHei"/>
              </a:rPr>
              <a:t>利用 teacher 和 student 的結果差異，搭配人為加入的異常畫面訓練。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7A58613-E687-476C-A2BD-746703EE66E5}"/>
              </a:ext>
            </a:extLst>
          </p:cNvPr>
          <p:cNvSpPr>
            <a:spLocks noGrp="1"/>
          </p:cNvSpPr>
          <p:nvPr/>
        </p:nvSpPr>
        <p:spPr>
          <a:xfrm>
            <a:off x="609600" y="5095875"/>
            <a:ext cx="54292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r>
              <a:rPr lang="zh-TW" sz="1950">
                <a:solidFill>
                  <a:srgbClr val="172C30"/>
                </a:solidFill>
                <a:latin typeface="Microsoft JhengHei"/>
                <a:ea typeface="Microsoft JhengHei"/>
              </a:rPr>
              <a:t>NOTE：架構圖有 Predicted label，但目前使用的 GitHub 程式未提供對應輸出。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F1323D1-4816-4E9D-8018-C4C1387A6783}"/>
              </a:ext>
            </a:extLst>
          </p:cNvPr>
          <p:cNvSpPr>
            <a:spLocks noGrp="1"/>
          </p:cNvSpPr>
          <p:nvPr/>
        </p:nvSpPr>
        <p:spPr>
          <a:xfrm>
            <a:off x="6229350" y="38290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8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29B2969-250D-4180-AA40-2EA1FBD9303D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CVPR 2024；官方程式碼：aed-mae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72F4922-A27D-414D-FD03-8C7DB2ECE2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021" y="2012554"/>
            <a:ext cx="4210051" cy="4340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82772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8917BFA1-A140-414B-B1F2-EDD375D5196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參考論文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2B38243-C0FE-452B-8B29-0F748CC1CEC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AnomalyRuler：依規則再次檢查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90919C-B876-4753-8B60-B88D1E6F2686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7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67B2172-86D1-414F-82A0-1FDBB83ED56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109728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Follow the Rules: Reasoning for Video Anomaly Detection with Large Language Models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E12450B-EEDD-4938-A42A-BEC17C369886}"/>
              </a:ext>
            </a:extLst>
          </p:cNvPr>
          <p:cNvSpPr>
            <a:spLocks noGrp="1"/>
          </p:cNvSpPr>
          <p:nvPr/>
        </p:nvSpPr>
        <p:spPr>
          <a:xfrm>
            <a:off x="628650" y="2533650"/>
            <a:ext cx="4476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先看正常畫面，整理出這個場景通常允許哪些活動。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F8E68E5-872F-4315-91E1-145DDBE38F31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76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 marL="457200" indent="-457200">
              <a:buAutoNum type="arabicPeriod"/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02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從正常影片中生成規則</a:t>
            </a:r>
            <a:endParaRPr lang="en-US" altLang="zh-TW" sz="2025" b="0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  <a:p>
            <a:pPr marL="457200" indent="-457200">
              <a:buAutoNum type="arabicPeriod"/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202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LLM </a:t>
            </a:r>
            <a:r>
              <a:rPr lang="zh-TW" altLang="en-US" sz="202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依規則逐幀判斷，找出異常幀</a:t>
            </a:r>
            <a:endParaRPr sz="2025" b="0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58A7062-8123-4F50-BB9D-3B4931E11371}"/>
              </a:ext>
            </a:extLst>
          </p:cNvPr>
          <p:cNvSpPr>
            <a:spLocks noGrp="1"/>
          </p:cNvSpPr>
          <p:nvPr/>
        </p:nvSpPr>
        <p:spPr>
          <a:xfrm>
            <a:off x="628650" y="4533900"/>
            <a:ext cx="44767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02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02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我們用它檢查</a:t>
            </a:r>
            <a:r>
              <a:rPr sz="202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 SD-MAE </a:t>
            </a:r>
            <a:r>
              <a:rPr sz="202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挑出的片段，並保存判斷理由</a:t>
            </a:r>
            <a:r>
              <a:rPr sz="202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979BE6-CFA6-48E3-B730-FB49CEDC31E6}"/>
              </a:ext>
            </a:extLst>
          </p:cNvPr>
          <p:cNvSpPr>
            <a:spLocks noGrp="1"/>
          </p:cNvSpPr>
          <p:nvPr/>
        </p:nvSpPr>
        <p:spPr>
          <a:xfrm>
            <a:off x="6229350" y="3829050"/>
            <a:ext cx="47625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8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8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CCED5FD-1460-4E7C-871D-DF0BE93A2883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ECCV 2024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4DDB3B6C-FC99-6FE2-F150-75C0C2370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5400" y="2543175"/>
            <a:ext cx="6775170" cy="320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4701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8FB8F81-E06D-4A83-926E-7D4325D2409B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參考論文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D99A1AF-F606-4A1E-B632-7B7DF73C3EA6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三種方法有什麼不同？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C847B0D-17B5-4288-A13A-E261DBB716F5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0</a:t>
            </a: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8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2E70223-4562-48F6-A736-28B3F6952E77}"/>
              </a:ext>
            </a:extLst>
          </p:cNvPr>
          <p:cNvGraphicFramePr/>
          <p:nvPr/>
        </p:nvGraphicFramePr>
        <p:xfrm>
          <a:off x="609600" y="1809750"/>
          <a:ext cx="10972800" cy="3714750"/>
        </p:xfrm>
        <a:graphic>
          <a:graphicData uri="http://schemas.openxmlformats.org/drawingml/2006/table">
            <a:tbl>
              <a:tblPr/>
              <a:tblGrid>
                <a:gridCol w="180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4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57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4295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比較項目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SD-MAE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AnomalyRuler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LaGoVAD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怎麼判斷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與學過的正常畫面比較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依正常畫面整理出的規則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依使用者提供的文字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事先需要什麼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用正常與合成異常畫面訓練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提供少量正常畫面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用影片標籤訓練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輸出什麼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異常分數與異常圖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正常／異常與理由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符合文字條件的異常分數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我們怎麼用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先挑出可疑畫面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再檢查並提供理由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之後有時間再比較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66F48096-E4E6-46AA-9F1D-7233492DE1E4}"/>
              </a:ext>
            </a:extLst>
          </p:cNvPr>
          <p:cNvSpPr>
            <a:spLocks noGrp="1"/>
          </p:cNvSpPr>
          <p:nvPr/>
        </p:nvSpPr>
        <p:spPr>
          <a:xfrm>
            <a:off x="523875" y="6091237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3610063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amework 2"/>
          <p:cNvSpPr/>
          <p:nvPr/>
        </p:nvSpPr>
        <p:spPr>
          <a:xfrm>
            <a:off x="476250" y="619125"/>
            <a:ext cx="6191250" cy="714375"/>
          </a:xfrm>
          <a:prstGeom prst="rect">
            <a:avLst/>
          </a:prstGeom>
          <a:noFill/>
          <a:ln w="12700">
            <a:noFill/>
          </a:ln>
        </p:spPr>
        <p:txBody>
          <a:bodyPr lIns="50000" tIns="20000" rIns="50000" bIns="20000" anchor="ctr"/>
          <a:lstStyle/>
          <a:p>
            <a:pPr algn="ctr"/>
            <a:r>
              <a:rPr lang="zh-TW" sz="3150" b="1">
                <a:solidFill>
                  <a:srgbClr val="172C30"/>
                </a:solidFill>
                <a:latin typeface="Microsoft JhengHei"/>
                <a:ea typeface="Microsoft JhengHei"/>
              </a:rPr>
              <a:t>整體流程 Framework</a:t>
            </a:r>
          </a:p>
        </p:txBody>
      </p:sp>
      <p:sp>
        <p:nvSpPr>
          <p:cNvPr id="3" name="Framework 3"/>
          <p:cNvSpPr/>
          <p:nvPr/>
        </p:nvSpPr>
        <p:spPr>
          <a:xfrm>
            <a:off x="571500" y="1905000"/>
            <a:ext cx="1952625" cy="809625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725" b="0">
                <a:solidFill>
                  <a:srgbClr val="172C30"/>
                </a:solidFill>
                <a:latin typeface="Microsoft JhengHei"/>
                <a:ea typeface="Microsoft JhengHei"/>
              </a:rPr>
              <a:t>監視器影片或</a:t>
            </a:r>
          </a:p>
          <a:p>
            <a:pPr algn="ctr"/>
            <a:r>
              <a:rPr lang="zh-TW" sz="1725" b="0">
                <a:solidFill>
                  <a:srgbClr val="172C30"/>
                </a:solidFill>
                <a:latin typeface="Microsoft JhengHei"/>
                <a:ea typeface="Microsoft JhengHei"/>
              </a:rPr>
              <a:t>固定視角 Webcam</a:t>
            </a:r>
          </a:p>
        </p:txBody>
      </p:sp>
      <p:sp>
        <p:nvSpPr>
          <p:cNvPr id="4" name="Framework 4"/>
          <p:cNvSpPr/>
          <p:nvPr/>
        </p:nvSpPr>
        <p:spPr>
          <a:xfrm>
            <a:off x="2905125" y="1905000"/>
            <a:ext cx="1666875" cy="809625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1">
                <a:solidFill>
                  <a:srgbClr val="172C30"/>
                </a:solidFill>
                <a:latin typeface="Microsoft JhengHei"/>
                <a:ea typeface="Microsoft JhengHei"/>
              </a:rPr>
              <a:t>SD-MAE</a:t>
            </a:r>
          </a:p>
          <a:p>
            <a:pPr algn="ctr"/>
            <a:r>
              <a:rPr lang="zh-TW" sz="1800" b="1">
                <a:solidFill>
                  <a:srgbClr val="172C30"/>
                </a:solidFill>
                <a:latin typeface="Microsoft JhengHei"/>
                <a:ea typeface="Microsoft JhengHei"/>
              </a:rPr>
              <a:t>視覺異常偵測</a:t>
            </a:r>
          </a:p>
        </p:txBody>
      </p:sp>
      <p:sp>
        <p:nvSpPr>
          <p:cNvPr id="5" name="Framework 5"/>
          <p:cNvSpPr/>
          <p:nvPr/>
        </p:nvSpPr>
        <p:spPr>
          <a:xfrm>
            <a:off x="4953000" y="1905000"/>
            <a:ext cx="1619250" cy="809625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725" b="0">
                <a:solidFill>
                  <a:srgbClr val="172C30"/>
                </a:solidFill>
                <a:latin typeface="Microsoft JhengHei"/>
                <a:ea typeface="Microsoft JhengHei"/>
              </a:rPr>
              <a:t>影格異常分數</a:t>
            </a:r>
          </a:p>
        </p:txBody>
      </p:sp>
      <p:sp>
        <p:nvSpPr>
          <p:cNvPr id="6" name="Framework 6"/>
          <p:cNvSpPr/>
          <p:nvPr/>
        </p:nvSpPr>
        <p:spPr>
          <a:xfrm>
            <a:off x="7000875" y="1762125"/>
            <a:ext cx="1428750" cy="1095375"/>
          </a:xfrm>
          <a:prstGeom prst="diamond">
            <a:avLst/>
          </a:prstGeom>
          <a:solidFill>
            <a:srgbClr val="E9E4D6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Risk</a:t>
            </a:r>
          </a:p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Gate</a:t>
            </a:r>
          </a:p>
        </p:txBody>
      </p:sp>
      <p:sp>
        <p:nvSpPr>
          <p:cNvPr id="7" name="Framework 7"/>
          <p:cNvSpPr/>
          <p:nvPr/>
        </p:nvSpPr>
        <p:spPr>
          <a:xfrm>
            <a:off x="9334500" y="1905000"/>
            <a:ext cx="2286000" cy="809625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建立候選片段</a:t>
            </a:r>
          </a:p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保存視覺分數</a:t>
            </a:r>
          </a:p>
        </p:txBody>
      </p:sp>
      <p:cxnSp>
        <p:nvCxnSpPr>
          <p:cNvPr id="8" name="Flow 8"/>
          <p:cNvCxnSpPr/>
          <p:nvPr/>
        </p:nvCxnSpPr>
        <p:spPr>
          <a:xfrm>
            <a:off x="2524125" y="2305050"/>
            <a:ext cx="381000" cy="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cxnSp>
        <p:nvCxnSpPr>
          <p:cNvPr id="9" name="Flow 9"/>
          <p:cNvCxnSpPr/>
          <p:nvPr/>
        </p:nvCxnSpPr>
        <p:spPr>
          <a:xfrm>
            <a:off x="4572000" y="2305050"/>
            <a:ext cx="381000" cy="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cxnSp>
        <p:nvCxnSpPr>
          <p:cNvPr id="10" name="Flow 10"/>
          <p:cNvCxnSpPr/>
          <p:nvPr/>
        </p:nvCxnSpPr>
        <p:spPr>
          <a:xfrm>
            <a:off x="6572250" y="2305050"/>
            <a:ext cx="428625" cy="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cxnSp>
        <p:nvCxnSpPr>
          <p:cNvPr id="11" name="Flow 11"/>
          <p:cNvCxnSpPr/>
          <p:nvPr/>
        </p:nvCxnSpPr>
        <p:spPr>
          <a:xfrm>
            <a:off x="8429625" y="2305050"/>
            <a:ext cx="904875" cy="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sp>
        <p:nvSpPr>
          <p:cNvPr id="12" name="Framework 12"/>
          <p:cNvSpPr/>
          <p:nvPr/>
        </p:nvSpPr>
        <p:spPr>
          <a:xfrm>
            <a:off x="8334375" y="1571625"/>
            <a:ext cx="1047750" cy="266700"/>
          </a:xfrm>
          <a:prstGeom prst="rect">
            <a:avLst/>
          </a:prstGeom>
          <a:solidFill>
            <a:srgbClr val="F7F5F0"/>
          </a:solidFill>
          <a:ln w="12700">
            <a:noFill/>
          </a:ln>
        </p:spPr>
        <p:txBody>
          <a:bodyPr lIns="50000" tIns="20000" rIns="50000" bIns="20000" anchor="ctr"/>
          <a:lstStyle/>
          <a:p>
            <a:pPr algn="ctr"/>
            <a:r>
              <a:rPr lang="zh-TW" sz="1350" b="0">
                <a:solidFill>
                  <a:srgbClr val="172C30"/>
                </a:solidFill>
                <a:latin typeface="Microsoft JhengHei"/>
                <a:ea typeface="Microsoft JhengHei"/>
              </a:rPr>
              <a:t>達到門檻</a:t>
            </a:r>
          </a:p>
        </p:txBody>
      </p:sp>
      <p:sp>
        <p:nvSpPr>
          <p:cNvPr id="13" name="Framework 13"/>
          <p:cNvSpPr/>
          <p:nvPr/>
        </p:nvSpPr>
        <p:spPr>
          <a:xfrm>
            <a:off x="571500" y="3714750"/>
            <a:ext cx="2381250" cy="809625"/>
          </a:xfrm>
          <a:prstGeom prst="rect">
            <a:avLst/>
          </a:prstGeom>
          <a:solidFill>
            <a:srgbClr val="EBEDE9"/>
          </a:solidFill>
          <a:ln w="12700">
            <a:solidFill>
              <a:srgbClr val="8E9D9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第一階段判為正常</a:t>
            </a:r>
          </a:p>
        </p:txBody>
      </p:sp>
      <p:sp>
        <p:nvSpPr>
          <p:cNvPr id="14" name="Framework 14"/>
          <p:cNvSpPr/>
          <p:nvPr/>
        </p:nvSpPr>
        <p:spPr>
          <a:xfrm>
            <a:off x="4095750" y="3714750"/>
            <a:ext cx="2190750" cy="809625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1">
                <a:solidFill>
                  <a:srgbClr val="172C30"/>
                </a:solidFill>
                <a:latin typeface="Microsoft JhengHei"/>
                <a:ea typeface="Microsoft JhengHei"/>
              </a:rPr>
              <a:t>Decision Fusion</a:t>
            </a:r>
          </a:p>
          <a:p>
            <a:pPr algn="ctr"/>
            <a:r>
              <a:rPr lang="zh-TW" sz="1800" b="1">
                <a:solidFill>
                  <a:srgbClr val="172C30"/>
                </a:solidFill>
                <a:latin typeface="Microsoft JhengHei"/>
                <a:ea typeface="Microsoft JhengHei"/>
              </a:rPr>
              <a:t>合併兩邊分數</a:t>
            </a:r>
          </a:p>
        </p:txBody>
      </p:sp>
      <p:sp>
        <p:nvSpPr>
          <p:cNvPr id="15" name="Framework 15"/>
          <p:cNvSpPr/>
          <p:nvPr/>
        </p:nvSpPr>
        <p:spPr>
          <a:xfrm>
            <a:off x="6715125" y="3714750"/>
            <a:ext cx="2190750" cy="809625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語意分數</a:t>
            </a:r>
          </a:p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與判斷理由</a:t>
            </a:r>
          </a:p>
        </p:txBody>
      </p:sp>
      <p:sp>
        <p:nvSpPr>
          <p:cNvPr id="16" name="Framework 16"/>
          <p:cNvSpPr/>
          <p:nvPr/>
        </p:nvSpPr>
        <p:spPr>
          <a:xfrm>
            <a:off x="9334500" y="3714750"/>
            <a:ext cx="2286000" cy="809625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1">
                <a:solidFill>
                  <a:srgbClr val="172C30"/>
                </a:solidFill>
                <a:latin typeface="Microsoft JhengHei"/>
                <a:ea typeface="Microsoft JhengHei"/>
              </a:rPr>
              <a:t>AnomalyRuler</a:t>
            </a:r>
          </a:p>
          <a:p>
            <a:pPr algn="ctr"/>
            <a:r>
              <a:rPr lang="zh-TW" sz="1800" b="1">
                <a:solidFill>
                  <a:srgbClr val="172C30"/>
                </a:solidFill>
                <a:latin typeface="Microsoft JhengHei"/>
                <a:ea typeface="Microsoft JhengHei"/>
              </a:rPr>
              <a:t>語意驗證</a:t>
            </a:r>
          </a:p>
        </p:txBody>
      </p:sp>
      <p:cxnSp>
        <p:nvCxnSpPr>
          <p:cNvPr id="17" name="Flow 17"/>
          <p:cNvCxnSpPr/>
          <p:nvPr/>
        </p:nvCxnSpPr>
        <p:spPr>
          <a:xfrm>
            <a:off x="10477500" y="2714625"/>
            <a:ext cx="0" cy="1000125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sp>
        <p:nvSpPr>
          <p:cNvPr id="18" name="Framework 18"/>
          <p:cNvSpPr/>
          <p:nvPr/>
        </p:nvSpPr>
        <p:spPr>
          <a:xfrm>
            <a:off x="10525125" y="3067050"/>
            <a:ext cx="1047750" cy="266700"/>
          </a:xfrm>
          <a:prstGeom prst="rect">
            <a:avLst/>
          </a:prstGeom>
          <a:solidFill>
            <a:srgbClr val="F7F5F0"/>
          </a:solidFill>
          <a:ln w="12700">
            <a:noFill/>
          </a:ln>
        </p:spPr>
        <p:txBody>
          <a:bodyPr lIns="50000" tIns="20000" rIns="50000" bIns="20000" anchor="ctr"/>
          <a:lstStyle/>
          <a:p>
            <a:pPr algn="ctr"/>
            <a:r>
              <a:rPr lang="zh-TW" sz="1350" b="0">
                <a:solidFill>
                  <a:srgbClr val="172C30"/>
                </a:solidFill>
                <a:latin typeface="Microsoft JhengHei"/>
                <a:ea typeface="Microsoft JhengHei"/>
              </a:rPr>
              <a:t>候選影格</a:t>
            </a:r>
          </a:p>
        </p:txBody>
      </p:sp>
      <p:cxnSp>
        <p:nvCxnSpPr>
          <p:cNvPr id="19" name="Flow 19"/>
          <p:cNvCxnSpPr/>
          <p:nvPr/>
        </p:nvCxnSpPr>
        <p:spPr>
          <a:xfrm flipH="1">
            <a:off x="8905875" y="4114800"/>
            <a:ext cx="428625" cy="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cxnSp>
        <p:nvCxnSpPr>
          <p:cNvPr id="20" name="Flow 20"/>
          <p:cNvCxnSpPr/>
          <p:nvPr/>
        </p:nvCxnSpPr>
        <p:spPr>
          <a:xfrm flipH="1">
            <a:off x="6286500" y="4114800"/>
            <a:ext cx="428625" cy="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cxnSp>
        <p:nvCxnSpPr>
          <p:cNvPr id="21" name="Flow 21"/>
          <p:cNvCxnSpPr/>
          <p:nvPr/>
        </p:nvCxnSpPr>
        <p:spPr>
          <a:xfrm>
            <a:off x="9525000" y="2714625"/>
            <a:ext cx="0" cy="523875"/>
          </a:xfrm>
          <a:prstGeom prst="line">
            <a:avLst/>
          </a:prstGeom>
          <a:ln w="19050">
            <a:solidFill>
              <a:srgbClr val="536769"/>
            </a:solidFill>
          </a:ln>
        </p:spPr>
      </p:cxnSp>
      <p:cxnSp>
        <p:nvCxnSpPr>
          <p:cNvPr id="22" name="Flow 22"/>
          <p:cNvCxnSpPr/>
          <p:nvPr/>
        </p:nvCxnSpPr>
        <p:spPr>
          <a:xfrm flipH="1">
            <a:off x="5191125" y="3238500"/>
            <a:ext cx="4333875" cy="0"/>
          </a:xfrm>
          <a:prstGeom prst="line">
            <a:avLst/>
          </a:prstGeom>
          <a:ln w="19050">
            <a:solidFill>
              <a:srgbClr val="536769"/>
            </a:solidFill>
          </a:ln>
        </p:spPr>
      </p:cxnSp>
      <p:cxnSp>
        <p:nvCxnSpPr>
          <p:cNvPr id="23" name="Flow 23"/>
          <p:cNvCxnSpPr/>
          <p:nvPr/>
        </p:nvCxnSpPr>
        <p:spPr>
          <a:xfrm>
            <a:off x="5191125" y="3238500"/>
            <a:ext cx="0" cy="47625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sp>
        <p:nvSpPr>
          <p:cNvPr id="24" name="Framework 24"/>
          <p:cNvSpPr/>
          <p:nvPr/>
        </p:nvSpPr>
        <p:spPr>
          <a:xfrm>
            <a:off x="6477000" y="2952750"/>
            <a:ext cx="1143000" cy="266700"/>
          </a:xfrm>
          <a:prstGeom prst="rect">
            <a:avLst/>
          </a:prstGeom>
          <a:solidFill>
            <a:srgbClr val="F7F5F0"/>
          </a:solidFill>
          <a:ln w="12700">
            <a:noFill/>
          </a:ln>
        </p:spPr>
        <p:txBody>
          <a:bodyPr lIns="50000" tIns="20000" rIns="50000" bIns="20000" anchor="ctr"/>
          <a:lstStyle/>
          <a:p>
            <a:pPr algn="ctr"/>
            <a:r>
              <a:rPr lang="zh-TW" sz="1350" b="0">
                <a:solidFill>
                  <a:srgbClr val="172C30"/>
                </a:solidFill>
                <a:latin typeface="Microsoft JhengHei"/>
                <a:ea typeface="Microsoft JhengHei"/>
              </a:rPr>
              <a:t>視覺分數</a:t>
            </a:r>
          </a:p>
        </p:txBody>
      </p:sp>
      <p:cxnSp>
        <p:nvCxnSpPr>
          <p:cNvPr id="25" name="Flow 25"/>
          <p:cNvCxnSpPr/>
          <p:nvPr/>
        </p:nvCxnSpPr>
        <p:spPr>
          <a:xfrm>
            <a:off x="7715250" y="2857500"/>
            <a:ext cx="0" cy="142875"/>
          </a:xfrm>
          <a:prstGeom prst="line">
            <a:avLst/>
          </a:prstGeom>
          <a:ln w="19050">
            <a:solidFill>
              <a:srgbClr val="536769"/>
            </a:solidFill>
          </a:ln>
        </p:spPr>
      </p:cxnSp>
      <p:cxnSp>
        <p:nvCxnSpPr>
          <p:cNvPr id="26" name="Flow 26"/>
          <p:cNvCxnSpPr/>
          <p:nvPr/>
        </p:nvCxnSpPr>
        <p:spPr>
          <a:xfrm flipH="1">
            <a:off x="1762125" y="3000375"/>
            <a:ext cx="5953125" cy="0"/>
          </a:xfrm>
          <a:prstGeom prst="line">
            <a:avLst/>
          </a:prstGeom>
          <a:ln w="19050">
            <a:solidFill>
              <a:srgbClr val="536769"/>
            </a:solidFill>
          </a:ln>
        </p:spPr>
      </p:cxnSp>
      <p:cxnSp>
        <p:nvCxnSpPr>
          <p:cNvPr id="27" name="Flow 27"/>
          <p:cNvCxnSpPr/>
          <p:nvPr/>
        </p:nvCxnSpPr>
        <p:spPr>
          <a:xfrm>
            <a:off x="1762125" y="3000375"/>
            <a:ext cx="0" cy="714375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sp>
        <p:nvSpPr>
          <p:cNvPr id="28" name="Framework 28"/>
          <p:cNvSpPr/>
          <p:nvPr/>
        </p:nvSpPr>
        <p:spPr>
          <a:xfrm>
            <a:off x="1809750" y="3190875"/>
            <a:ext cx="1047750" cy="266700"/>
          </a:xfrm>
          <a:prstGeom prst="rect">
            <a:avLst/>
          </a:prstGeom>
          <a:solidFill>
            <a:srgbClr val="F7F5F0"/>
          </a:solidFill>
          <a:ln w="12700">
            <a:noFill/>
          </a:ln>
        </p:spPr>
        <p:txBody>
          <a:bodyPr lIns="50000" tIns="20000" rIns="50000" bIns="20000" anchor="ctr"/>
          <a:lstStyle/>
          <a:p>
            <a:pPr algn="ctr"/>
            <a:r>
              <a:rPr lang="zh-TW" sz="1350" b="0">
                <a:solidFill>
                  <a:srgbClr val="172C30"/>
                </a:solidFill>
                <a:latin typeface="Microsoft JhengHei"/>
                <a:ea typeface="Microsoft JhengHei"/>
              </a:rPr>
              <a:t>未達門檻</a:t>
            </a:r>
          </a:p>
        </p:txBody>
      </p:sp>
      <p:sp>
        <p:nvSpPr>
          <p:cNvPr id="29" name="Framework 29"/>
          <p:cNvSpPr/>
          <p:nvPr/>
        </p:nvSpPr>
        <p:spPr>
          <a:xfrm>
            <a:off x="4095750" y="5381625"/>
            <a:ext cx="2190750" cy="762000"/>
          </a:xfrm>
          <a:prstGeom prst="rect">
            <a:avLst/>
          </a:prstGeom>
          <a:solidFill>
            <a:srgbClr val="E1EFEB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00" b="0">
                <a:solidFill>
                  <a:srgbClr val="172C30"/>
                </a:solidFill>
                <a:latin typeface="Microsoft JhengHei"/>
                <a:ea typeface="Microsoft JhengHei"/>
              </a:rPr>
              <a:t>最終結果與理由</a:t>
            </a:r>
          </a:p>
        </p:txBody>
      </p:sp>
      <p:sp>
        <p:nvSpPr>
          <p:cNvPr id="30" name="Framework 30"/>
          <p:cNvSpPr/>
          <p:nvPr/>
        </p:nvSpPr>
        <p:spPr>
          <a:xfrm>
            <a:off x="9334500" y="5381625"/>
            <a:ext cx="2286000" cy="762000"/>
          </a:xfrm>
          <a:prstGeom prst="rect">
            <a:avLst/>
          </a:prstGeom>
          <a:solidFill>
            <a:srgbClr val="C9E4DA"/>
          </a:solidFill>
          <a:ln w="12700">
            <a:solidFill>
              <a:srgbClr val="007D78"/>
            </a:solidFill>
          </a:ln>
        </p:spPr>
        <p:txBody>
          <a:bodyPr lIns="50000" tIns="20000" rIns="50000" bIns="20000" anchor="ctr"/>
          <a:lstStyle/>
          <a:p>
            <a:pPr algn="ctr"/>
            <a:r>
              <a:rPr lang="zh-TW" sz="1875" b="1">
                <a:solidFill>
                  <a:srgbClr val="172C30"/>
                </a:solidFill>
                <a:latin typeface="Microsoft JhengHei"/>
                <a:ea typeface="Microsoft JhengHei"/>
              </a:rPr>
              <a:t>結果介面</a:t>
            </a:r>
          </a:p>
        </p:txBody>
      </p:sp>
      <p:cxnSp>
        <p:nvCxnSpPr>
          <p:cNvPr id="31" name="Flow 31"/>
          <p:cNvCxnSpPr/>
          <p:nvPr/>
        </p:nvCxnSpPr>
        <p:spPr>
          <a:xfrm>
            <a:off x="5191125" y="4524375"/>
            <a:ext cx="0" cy="85725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cxnSp>
        <p:nvCxnSpPr>
          <p:cNvPr id="32" name="Flow 32"/>
          <p:cNvCxnSpPr/>
          <p:nvPr/>
        </p:nvCxnSpPr>
        <p:spPr>
          <a:xfrm>
            <a:off x="6286500" y="5762625"/>
            <a:ext cx="3048000" cy="0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cxnSp>
        <p:nvCxnSpPr>
          <p:cNvPr id="33" name="Flow 33"/>
          <p:cNvCxnSpPr/>
          <p:nvPr/>
        </p:nvCxnSpPr>
        <p:spPr>
          <a:xfrm>
            <a:off x="1762125" y="4524375"/>
            <a:ext cx="0" cy="1952625"/>
          </a:xfrm>
          <a:prstGeom prst="line">
            <a:avLst/>
          </a:prstGeom>
          <a:ln w="19050">
            <a:solidFill>
              <a:srgbClr val="536769"/>
            </a:solidFill>
          </a:ln>
        </p:spPr>
      </p:cxnSp>
      <p:cxnSp>
        <p:nvCxnSpPr>
          <p:cNvPr id="34" name="Flow 34"/>
          <p:cNvCxnSpPr/>
          <p:nvPr/>
        </p:nvCxnSpPr>
        <p:spPr>
          <a:xfrm>
            <a:off x="1762125" y="6477000"/>
            <a:ext cx="8715375" cy="0"/>
          </a:xfrm>
          <a:prstGeom prst="line">
            <a:avLst/>
          </a:prstGeom>
          <a:ln w="19050">
            <a:solidFill>
              <a:srgbClr val="536769"/>
            </a:solidFill>
          </a:ln>
        </p:spPr>
      </p:cxnSp>
      <p:cxnSp>
        <p:nvCxnSpPr>
          <p:cNvPr id="35" name="Flow 35"/>
          <p:cNvCxnSpPr/>
          <p:nvPr/>
        </p:nvCxnSpPr>
        <p:spPr>
          <a:xfrm flipV="1">
            <a:off x="10477500" y="6143625"/>
            <a:ext cx="0" cy="333375"/>
          </a:xfrm>
          <a:prstGeom prst="line">
            <a:avLst/>
          </a:prstGeom>
          <a:ln w="19050">
            <a:solidFill>
              <a:srgbClr val="536769"/>
            </a:solidFill>
            <a:tailEnd type="triangle" w="sm" len="sm"/>
          </a:ln>
        </p:spPr>
      </p:cxnSp>
      <p:sp>
        <p:nvSpPr>
          <p:cNvPr id="36" name="Framework 36"/>
          <p:cNvSpPr/>
          <p:nvPr/>
        </p:nvSpPr>
        <p:spPr>
          <a:xfrm>
            <a:off x="2762250" y="6229350"/>
            <a:ext cx="1524000" cy="266700"/>
          </a:xfrm>
          <a:prstGeom prst="rect">
            <a:avLst/>
          </a:prstGeom>
          <a:solidFill>
            <a:srgbClr val="F7F5F0"/>
          </a:solidFill>
          <a:ln w="12700">
            <a:noFill/>
          </a:ln>
        </p:spPr>
        <p:txBody>
          <a:bodyPr lIns="50000" tIns="20000" rIns="50000" bIns="20000" anchor="ctr"/>
          <a:lstStyle/>
          <a:p>
            <a:pPr algn="ctr"/>
            <a:r>
              <a:rPr lang="zh-TW" sz="1350" b="0">
                <a:solidFill>
                  <a:srgbClr val="172C30"/>
                </a:solidFill>
                <a:latin typeface="Microsoft JhengHei"/>
                <a:ea typeface="Microsoft JhengHei"/>
              </a:rPr>
              <a:t>第一階段結果</a:t>
            </a:r>
          </a:p>
        </p:txBody>
      </p:sp>
      <p:sp>
        <p:nvSpPr>
          <p:cNvPr id="37" name="Framework 37"/>
          <p:cNvSpPr/>
          <p:nvPr/>
        </p:nvSpPr>
        <p:spPr>
          <a:xfrm>
            <a:off x="11430000" y="6429375"/>
            <a:ext cx="476250" cy="285750"/>
          </a:xfrm>
          <a:prstGeom prst="rect">
            <a:avLst/>
          </a:prstGeom>
          <a:noFill/>
          <a:ln w="12700">
            <a:noFill/>
          </a:ln>
        </p:spPr>
        <p:txBody>
          <a:bodyPr lIns="50000" tIns="20000" rIns="50000" bIns="20000" anchor="ctr"/>
          <a:lstStyle/>
          <a:p>
            <a:pPr algn="ctr"/>
            <a:r>
              <a:rPr lang="zh-TW" sz="1200" b="0" dirty="0">
                <a:solidFill>
                  <a:srgbClr val="172C30"/>
                </a:solidFill>
                <a:latin typeface="Microsoft JhengHei"/>
                <a:ea typeface="Microsoft JhengHei"/>
              </a:rPr>
              <a:t>0</a:t>
            </a:r>
            <a:r>
              <a:rPr lang="en-US" altLang="zh-TW" sz="1200" b="0" dirty="0">
                <a:solidFill>
                  <a:srgbClr val="172C30"/>
                </a:solidFill>
                <a:latin typeface="Microsoft JhengHei"/>
                <a:ea typeface="Microsoft JhengHei"/>
              </a:rPr>
              <a:t>9</a:t>
            </a:r>
            <a:endParaRPr lang="zh-TW" sz="1200" b="0" dirty="0">
              <a:solidFill>
                <a:srgbClr val="172C30"/>
              </a:solidFill>
              <a:latin typeface="Microsoft JhengHei"/>
              <a:ea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087858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0C2CA8B2-6AFE-4B77-A18F-9C58C6D55B9A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模型框架說明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953C65B-12F8-4A60-B858-7C4A57D34A44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一、影片抽幀與 SD-MAE 評分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657E6B4-F2F3-4894-95FC-F4638F8D6AA7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10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46BD6345-2451-47FF-A809-36A75289553E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我們製作抽幀程式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0D5F816-FB28-4DAA-8516-2635A880BBFA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把影片拆成一張張圖片</a:t>
            </a:r>
            <a:r>
              <a:rPr lang="en-US" sz="2175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..</a:t>
            </a:r>
            <a:r>
              <a:rPr lang="en-US" altLang="zh-TW" sz="2175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(</a:t>
            </a:r>
            <a:r>
              <a:rPr lang="zh-TW" altLang="en-US" sz="2175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待定</a:t>
            </a:r>
            <a:r>
              <a:rPr lang="en-US" altLang="zh-TW" sz="2175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)</a:t>
            </a:r>
            <a:endParaRPr sz="2175" b="0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779F057-97F0-4E95-9EE6-25B399A2467F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整理圖片後評分</a:t>
            </a:r>
            <a:endParaRPr sz="2100" b="1" dirty="0">
              <a:solidFill>
                <a:srgbClr val="007D7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261D680-ED34-4C37-8019-F55B547A5F72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依模型要求調整圖片格式與大小，再交給</a:t>
            </a:r>
            <a:r>
              <a:rPr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 SD-MAE </a:t>
            </a: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算出各張圖片的異常分數</a:t>
            </a:r>
            <a:r>
              <a:rPr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C59A3BA-5E7C-439C-8000-1849BCEE8773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endParaRPr sz="2100" b="1" dirty="0">
              <a:solidFill>
                <a:srgbClr val="007D7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D699FFB-6A0B-48D9-B215-92990C9F085C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影片抽幀由我們自行製作，再接上 SD-MAE 的處理流程。</a:t>
            </a:r>
          </a:p>
        </p:txBody>
      </p:sp>
    </p:spTree>
    <p:extLst>
      <p:ext uri="{BB962C8B-B14F-4D97-AF65-F5344CB8AC3E}">
        <p14:creationId xmlns:p14="http://schemas.microsoft.com/office/powerpoint/2010/main" val="20635144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151F4840-C620-4578-9617-92581B3E14F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模型框架說明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A0153D2-3B8E-4874-A0E1-3167A3B598B4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二、挑出並整理可疑片段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44445B0-C8BD-4A92-9D0A-EDEF030F54B3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r>
              <a:rPr lang="en-US" sz="1275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7D01924-7CFC-48BE-98A8-0C24D7674B8B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設定篩選門檻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FFB0CF0-3560-40DB-8B73-BCD7B85FE167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分數超過門檻的畫面，就列入後續檢查。這個步驟稱為</a:t>
            </a:r>
            <a:r>
              <a:rPr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 Risk Gate。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B0B6EED-1218-4BDF-82A5-D287EF168C95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合併接近的畫面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2C32CC-33B5-437E-A387-D97FE9CE1186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把時間接近的可疑畫面合成同一段，並加上前後畫面，方便看懂發生什麼事</a:t>
            </a:r>
            <a:r>
              <a:rPr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E04BD6D-0F80-428B-9663-7B2A8077E268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依順序送出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1FF3309-2BC9-40E3-9AA0-F8FC6447DDCB}"/>
              </a:ext>
            </a:extLst>
          </p:cNvPr>
          <p:cNvSpPr>
            <a:spLocks noGrp="1"/>
          </p:cNvSpPr>
          <p:nvPr/>
        </p:nvSpPr>
        <p:spPr>
          <a:xfrm>
            <a:off x="3524250" y="458152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片段太長就再分段，依時間順序把原始圖片交給第二個模型</a:t>
            </a:r>
            <a:r>
              <a:rPr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D02E676E-54EE-4017-BE37-232A0B5CF989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0" dirty="0" err="1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要保留前後幾秒、多久取一張圖片，會先試過再決定</a:t>
            </a:r>
            <a:r>
              <a:rPr sz="1500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71145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284D878-069D-41B0-8F9C-C16CCF6CE2E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模型框架說明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DC20BA17-6F2E-46FE-B41D-218F34451B11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三、交給 AnomalyRuler 再次檢查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73D5AB1-0106-490C-9E34-B000E56B2936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12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30B576-D834-4900-9B21-6D14ABEA4AD6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讀取片段圖片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6A425EA-F936-4E73-A6A7-CC0907CCB828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待定。</a:t>
            </a:r>
            <a:endParaRPr sz="2175" b="0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7B7634-E456-4502-9006-CE7439CB62F9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參考場景規則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E4E8D1F-C576-4209-8D05-EA17D762223A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先描述畫面內容，再和這個場景的規則比較，判斷是否有問題。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52AFA48-EEC6-413D-9F69-88C0F1153828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留下結果與理由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BDEA21B-70B9-41FD-B75E-992F2B3AC22F}"/>
              </a:ext>
            </a:extLst>
          </p:cNvPr>
          <p:cNvSpPr>
            <a:spLocks noGrp="1"/>
          </p:cNvSpPr>
          <p:nvPr/>
        </p:nvSpPr>
        <p:spPr>
          <a:xfrm>
            <a:off x="3524250" y="458152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保存正常／異常判斷及理由。如果模型失敗或結果讀不出來，也會標示。</a:t>
            </a:r>
          </a:p>
        </p:txBody>
      </p:sp>
    </p:spTree>
    <p:extLst>
      <p:ext uri="{BB962C8B-B14F-4D97-AF65-F5344CB8AC3E}">
        <p14:creationId xmlns:p14="http://schemas.microsoft.com/office/powerpoint/2010/main" val="198992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A3B61E1F-2BB7-40F7-93D0-BF44B2F20DEF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模型框架說明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83FD67D-C8C8-4E82-8460-3F4D3F70A4CD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四、合併兩個模型的結果</a:t>
            </a:r>
            <a:endParaRPr sz="3225" b="1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4194F6-5229-4FF9-B935-C1C3884D59FC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3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31207F0-3E03-425C-805A-AA56D6D31DA5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第一個分數</a:t>
            </a:r>
            <a:r>
              <a:rPr sz="2100" b="1" dirty="0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97C40E0-A880-42A9-8EDB-6274E13A1F14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整理</a:t>
            </a:r>
            <a:r>
              <a:rPr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 SD-MAE </a:t>
            </a:r>
            <a:r>
              <a:rPr sz="2175" b="0" dirty="0" err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在這段影片的分數，讓它代表整段影片的可疑程度</a:t>
            </a:r>
            <a:r>
              <a:rPr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FA297-AFA7-4D76-BC63-C9C5D8E81BDF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第二個分數</a:t>
            </a:r>
            <a:r>
              <a:rPr sz="2100" b="1" dirty="0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1B21A8A-CBD4-43EF-9586-032EFFA49401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75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待定。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AC43A15-48C7-4010-8C7C-230DB8AF6D5E}"/>
              </a:ext>
            </a:extLst>
          </p:cNvPr>
          <p:cNvSpPr>
            <a:spLocks noGrp="1"/>
          </p:cNvSpPr>
          <p:nvPr/>
        </p:nvSpPr>
        <p:spPr>
          <a:xfrm>
            <a:off x="628650" y="458152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 dirty="0" err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加權計算</a:t>
            </a:r>
            <a:endParaRPr sz="2100" b="1" dirty="0">
              <a:solidFill>
                <a:srgbClr val="007D7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3017BC-CAE9-4A3C-9709-D88252131A38}"/>
              </a:ext>
            </a:extLst>
          </p:cNvPr>
          <p:cNvSpPr>
            <a:spLocks noGrp="1"/>
          </p:cNvSpPr>
          <p:nvPr/>
        </p:nvSpPr>
        <p:spPr>
          <a:xfrm>
            <a:off x="3524250" y="458152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endParaRPr sz="2175" b="0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07B9491-FEC3-463D-8F50-452D50D7906D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76AEADBA-3056-8294-F865-F667A5A722EF}"/>
              </a:ext>
            </a:extLst>
          </p:cNvPr>
          <p:cNvSpPr txBox="1"/>
          <p:nvPr/>
        </p:nvSpPr>
        <p:spPr>
          <a:xfrm>
            <a:off x="3524250" y="4463255"/>
            <a:ext cx="6093822" cy="427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2175" b="0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待定。</a:t>
            </a:r>
          </a:p>
        </p:txBody>
      </p:sp>
    </p:spTree>
    <p:extLst>
      <p:ext uri="{BB962C8B-B14F-4D97-AF65-F5344CB8AC3E}">
        <p14:creationId xmlns:p14="http://schemas.microsoft.com/office/powerpoint/2010/main" val="601159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FC477AB3-39DC-44BC-A61E-BD62BAE99E81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 dirty="0" err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模型框架說明</a:t>
            </a:r>
            <a:endParaRPr sz="1500" b="1" dirty="0">
              <a:solidFill>
                <a:srgbClr val="007D78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DF7FD1D-321B-4EFC-BE1C-91AE0C34C52E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225" b="1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五、</a:t>
            </a:r>
            <a:r>
              <a:rPr lang="en-US" altLang="zh-TW" sz="3225" b="1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Decision Fusion</a:t>
            </a:r>
            <a:endParaRPr sz="3225" b="1" dirty="0">
              <a:solidFill>
                <a:srgbClr val="172C30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D2F904D-DC30-48C5-B020-60891B2D7B45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14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9D2AF02-7921-487D-9F19-68F8DF1FBB96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CF18671E-540A-A53C-4851-5D5C55969C82}"/>
              </a:ext>
            </a:extLst>
          </p:cNvPr>
          <p:cNvSpPr txBox="1"/>
          <p:nvPr/>
        </p:nvSpPr>
        <p:spPr>
          <a:xfrm>
            <a:off x="849086" y="107115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B1EDFD6-5E22-2097-4C5E-43A054491596}"/>
              </a:ext>
            </a:extLst>
          </p:cNvPr>
          <p:cNvSpPr txBox="1"/>
          <p:nvPr/>
        </p:nvSpPr>
        <p:spPr>
          <a:xfrm>
            <a:off x="4917078" y="3045164"/>
            <a:ext cx="6093822" cy="588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zh-TW" altLang="en-US" sz="3225" b="1" dirty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待定。</a:t>
            </a:r>
          </a:p>
        </p:txBody>
      </p:sp>
    </p:spTree>
    <p:extLst>
      <p:ext uri="{BB962C8B-B14F-4D97-AF65-F5344CB8AC3E}">
        <p14:creationId xmlns:p14="http://schemas.microsoft.com/office/powerpoint/2010/main" val="210532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8F5B573-1840-4B4E-AE9D-BD396717F8C0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模型框架說明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E659BCD-C272-4170-A260-6AF2CBB2F4F7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可能遇到的問題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865163E-D728-4FB8-BFD6-2D2CC22C39EC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</a:t>
            </a: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5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47866AB-264F-46CE-B38D-7609277C48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5552570"/>
              </p:ext>
            </p:extLst>
          </p:nvPr>
        </p:nvGraphicFramePr>
        <p:xfrm>
          <a:off x="609600" y="1809750"/>
          <a:ext cx="10972800" cy="3714752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286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問題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我們打算怎麼處理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要看什麼結果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多一個模型有幫助嗎？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比較只用 SD-MAE 與兩階段結果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誤報有沒有減少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第一階段漏掉了怎麼辦？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調整門檻，查看沒被選中的片段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漏掉多少異常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28688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第二個模型也可能看錯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dirty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待定。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1800" b="0" dirty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待定。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A4CE0126-DAB3-43E0-A7B3-DC78420429AD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7845106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712559C3-1307-4791-BFD6-D6C49CFC98EC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貢獻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E003384-EC05-4654-B987-007EC30971DC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我們預計完成的貢獻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C4924B9-EECA-4BCA-ADC4-7EBFF7788312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16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9771680-EFD7-4034-8D58-0AFC5D3AC4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8521695"/>
              </p:ext>
            </p:extLst>
          </p:nvPr>
        </p:nvGraphicFramePr>
        <p:xfrm>
          <a:off x="609600" y="1771649"/>
          <a:ext cx="10972800" cy="3518808"/>
        </p:xfrm>
        <a:graphic>
          <a:graphicData uri="http://schemas.openxmlformats.org/drawingml/2006/table">
            <a:tbl>
              <a:tblPr/>
              <a:tblGrid>
                <a:gridCol w="271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66066"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我們做的部分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具體內容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帶來什麼幫助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>
                      <a:solidFill>
                        <a:srgbClr val="CFD9D4"/>
                      </a:solidFill>
                      <a:prstDash val="soli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007D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2071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自建校園資料集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規劃事件、拍攝影片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標註時間並分組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建立符合選定場景的測試資料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606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影片前處理與抽幀</a:t>
                      </a: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自行轉成</a:t>
                      </a:r>
                      <a:r>
                        <a:rPr lang="zh-TW" altLang="en-US" sz="1800" b="0" dirty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符合</a:t>
                      </a:r>
                      <a:r>
                        <a:rPr lang="en-US" altLang="zh-TW" sz="1800" b="0" dirty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SD-MAE</a:t>
                      </a:r>
                      <a:r>
                        <a:rPr lang="zh-TW" altLang="en-US" sz="1800" b="0" dirty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的格式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讓影片能送入</a:t>
                      </a:r>
                      <a:r>
                        <a:rPr sz="1800" b="0" dirty="0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 SD-MAE</a:t>
                      </a: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EDF1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65963"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片段整理與模型串接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>
                      <a:solidFill>
                        <a:srgbClr val="CFD9D4"/>
                      </a:solidFill>
                      <a:prstDash val="soli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合併可疑畫面，接上兩個模型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 err="1">
                          <a:solidFill>
                            <a:srgbClr val="172C30"/>
                          </a:solidFill>
                          <a:latin typeface="Microsoft JhengHei"/>
                          <a:ea typeface="Microsoft JhengHei"/>
                          <a:cs typeface="Microsoft JhengHei"/>
                        </a:rPr>
                        <a:t>結合畫面分數與場景規則</a:t>
                      </a:r>
                      <a:endParaRPr sz="1800" b="0" dirty="0">
                        <a:solidFill>
                          <a:srgbClr val="172C30"/>
                        </a:solidFill>
                        <a:latin typeface="Microsoft JhengHei"/>
                        <a:ea typeface="Microsoft JhengHei"/>
                        <a:cs typeface="Microsoft JhengHei"/>
                      </a:endParaRPr>
                    </a:p>
                  </a:txBody>
                  <a:tcPr>
                    <a:lnL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CFD9D4"/>
                      </a:solidFill>
                      <a:prstDash val="solid"/>
                    </a:lnR>
                    <a:lnT w="9525" cap="flat" cmpd="sng" algn="ctr">
                      <a:solidFill>
                        <a:srgbClr val="CFD9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CFD9D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C5D3D725-6C4C-49A2-9F2B-DA8E83475002}"/>
              </a:ext>
            </a:extLst>
          </p:cNvPr>
          <p:cNvSpPr>
            <a:spLocks noGrp="1"/>
          </p:cNvSpPr>
          <p:nvPr/>
        </p:nvSpPr>
        <p:spPr>
          <a:xfrm>
            <a:off x="628650" y="6038850"/>
            <a:ext cx="10382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endParaRPr sz="1500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</p:spTree>
    <p:extLst>
      <p:ext uri="{BB962C8B-B14F-4D97-AF65-F5344CB8AC3E}">
        <p14:creationId xmlns:p14="http://schemas.microsoft.com/office/powerpoint/2010/main" val="15486808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C98321A5-648D-435D-BA27-9184AAE18189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未來期望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1967FD9-6B1C-46B1-A09C-EAE04314AAF4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未來還可以做什麼？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E32F0A4-F11E-4F53-97E6-1B2F8CBBF9A1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17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14F66A0-B2D4-43A9-92AB-0AE586910661}"/>
              </a:ext>
            </a:extLst>
          </p:cNvPr>
          <p:cNvSpPr>
            <a:spLocks noGrp="1"/>
          </p:cNvSpPr>
          <p:nvPr/>
        </p:nvSpPr>
        <p:spPr>
          <a:xfrm>
            <a:off x="628650" y="1857375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擴充校園資料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97674A8-63E9-4985-BEC7-CA54C4BE644E}"/>
              </a:ext>
            </a:extLst>
          </p:cNvPr>
          <p:cNvSpPr>
            <a:spLocks noGrp="1"/>
          </p:cNvSpPr>
          <p:nvPr/>
        </p:nvSpPr>
        <p:spPr>
          <a:xfrm>
            <a:off x="3524250" y="1857375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先做好選定場景，再增加不同時段、光線與參與者的影片。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33DA8B5-4723-466F-A934-68ADD9622A61}"/>
              </a:ext>
            </a:extLst>
          </p:cNvPr>
          <p:cNvSpPr>
            <a:spLocks noGrp="1"/>
          </p:cNvSpPr>
          <p:nvPr/>
        </p:nvSpPr>
        <p:spPr>
          <a:xfrm>
            <a:off x="628650" y="3219450"/>
            <a:ext cx="2667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讓規則更彈性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DEDD792-75D1-433D-AFFF-7B7688479DE9}"/>
              </a:ext>
            </a:extLst>
          </p:cNvPr>
          <p:cNvSpPr>
            <a:spLocks noGrp="1"/>
          </p:cNvSpPr>
          <p:nvPr/>
        </p:nvSpPr>
        <p:spPr>
          <a:xfrm>
            <a:off x="3524250" y="3219450"/>
            <a:ext cx="8001000" cy="1076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75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測試不同場景，也試著讓使用者指定哪些活動需要注意。</a:t>
            </a:r>
          </a:p>
        </p:txBody>
      </p:sp>
    </p:spTree>
    <p:extLst>
      <p:ext uri="{BB962C8B-B14F-4D97-AF65-F5344CB8AC3E}">
        <p14:creationId xmlns:p14="http://schemas.microsoft.com/office/powerpoint/2010/main" val="7848793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0CBD69DE-2160-456F-82C2-A1467460286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參考論文（連結）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4B77BA6-6B16-4EE9-82E4-AB2E7F4C287B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主要論文與官方程式碼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9142950-A9C8-45B4-B7BE-B9969ED56EC3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18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878C333-80DC-4332-8E31-6DFD27FF10B6}"/>
              </a:ext>
            </a:extLst>
          </p:cNvPr>
          <p:cNvSpPr>
            <a:spLocks noGrp="1"/>
          </p:cNvSpPr>
          <p:nvPr/>
        </p:nvSpPr>
        <p:spPr>
          <a:xfrm>
            <a:off x="628650" y="1838325"/>
            <a:ext cx="1081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SD-MAE · CVPR 2024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0444DE-0264-46A6-B493-27F7EBF0F64E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https://arxiv.org/abs/2306.12041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04B1572-4132-4F41-8089-A15C877DA239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1081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SD-MAE 官方程式碼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8C09E96B-079E-4A93-9667-2518F4DB7FB5}"/>
              </a:ext>
            </a:extLst>
          </p:cNvPr>
          <p:cNvSpPr>
            <a:spLocks noGrp="1"/>
          </p:cNvSpPr>
          <p:nvPr/>
        </p:nvSpPr>
        <p:spPr>
          <a:xfrm>
            <a:off x="628650" y="3286125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https://github.com/ristea/aed-mae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DC87EB-BC83-4929-A801-7BD1D574E66D}"/>
              </a:ext>
            </a:extLst>
          </p:cNvPr>
          <p:cNvSpPr>
            <a:spLocks noGrp="1"/>
          </p:cNvSpPr>
          <p:nvPr/>
        </p:nvSpPr>
        <p:spPr>
          <a:xfrm>
            <a:off x="628650" y="3876675"/>
            <a:ext cx="1081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AnomalyRuler · ECCV 2024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328773-6D68-40DE-BFCE-06F4245AB74B}"/>
              </a:ext>
            </a:extLst>
          </p:cNvPr>
          <p:cNvSpPr>
            <a:spLocks noGrp="1"/>
          </p:cNvSpPr>
          <p:nvPr/>
        </p:nvSpPr>
        <p:spPr>
          <a:xfrm>
            <a:off x="628650" y="4305300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https://arxiv.org/abs/2407.10299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86BC539-4898-45DC-8CF4-81C66B9BB380}"/>
              </a:ext>
            </a:extLst>
          </p:cNvPr>
          <p:cNvSpPr>
            <a:spLocks noGrp="1"/>
          </p:cNvSpPr>
          <p:nvPr/>
        </p:nvSpPr>
        <p:spPr>
          <a:xfrm>
            <a:off x="628650" y="4895850"/>
            <a:ext cx="1081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AnomalyRuler 官方程式碼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520F8DC-66B2-4330-BD66-5BF9A12BAC1B}"/>
              </a:ext>
            </a:extLst>
          </p:cNvPr>
          <p:cNvSpPr>
            <a:spLocks noGrp="1"/>
          </p:cNvSpPr>
          <p:nvPr/>
        </p:nvSpPr>
        <p:spPr>
          <a:xfrm>
            <a:off x="628650" y="5324475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  <a:hlinkClick r:id="rId6"/>
              </a:rPr>
              <a:t>https://github.com/Yuchen413/AnomalyRuler</a:t>
            </a:r>
          </a:p>
        </p:txBody>
      </p:sp>
    </p:spTree>
    <p:extLst>
      <p:ext uri="{BB962C8B-B14F-4D97-AF65-F5344CB8AC3E}">
        <p14:creationId xmlns:p14="http://schemas.microsoft.com/office/powerpoint/2010/main" val="2740100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5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DCFD24EC-F6F1-4F3C-B0E9-DF8FD23F318E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5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參考論文（連結）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D7E5663-A764-4991-B17B-ACAC15BB8058}"/>
              </a:ext>
            </a:extLst>
          </p:cNvPr>
          <p:cNvSpPr>
            <a:spLocks noGrp="1"/>
          </p:cNvSpPr>
          <p:nvPr/>
        </p:nvSpPr>
        <p:spPr>
          <a:xfrm>
            <a:off x="609600" y="876300"/>
            <a:ext cx="109728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3225" b="1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rPr>
              <a:t>延伸論文與資料集連結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D67FC1-2754-4127-A703-C20A4B8AB9CB}"/>
              </a:ext>
            </a:extLst>
          </p:cNvPr>
          <p:cNvSpPr>
            <a:spLocks noGrp="1"/>
          </p:cNvSpPr>
          <p:nvPr/>
        </p:nvSpPr>
        <p:spPr>
          <a:xfrm>
            <a:off x="11096625" y="6353175"/>
            <a:ext cx="5715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275" b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lang="en-US" sz="1275" b="0" dirty="0">
                <a:solidFill>
                  <a:srgbClr val="536769"/>
                </a:solidFill>
                <a:latin typeface="Microsoft JhengHei"/>
                <a:ea typeface="Microsoft JhengHei"/>
                <a:cs typeface="Microsoft JhengHei"/>
              </a:rPr>
              <a:t>19</a:t>
            </a:r>
            <a:endParaRPr sz="1275" b="0" dirty="0">
              <a:solidFill>
                <a:srgbClr val="536769"/>
              </a:solidFill>
              <a:latin typeface="Microsoft JhengHei"/>
              <a:ea typeface="Microsoft JhengHei"/>
              <a:cs typeface="Microsoft JhengHei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300E59D-48C3-4388-8B94-3CA0EBCB452A}"/>
              </a:ext>
            </a:extLst>
          </p:cNvPr>
          <p:cNvSpPr>
            <a:spLocks noGrp="1"/>
          </p:cNvSpPr>
          <p:nvPr/>
        </p:nvSpPr>
        <p:spPr>
          <a:xfrm>
            <a:off x="628650" y="1838325"/>
            <a:ext cx="1081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LaGoVAD · 延伸比較論文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C1CA61-E958-4586-A081-ECDF37BCF2DB}"/>
              </a:ext>
            </a:extLst>
          </p:cNvPr>
          <p:cNvSpPr>
            <a:spLocks noGrp="1"/>
          </p:cNvSpPr>
          <p:nvPr/>
        </p:nvSpPr>
        <p:spPr>
          <a:xfrm>
            <a:off x="628650" y="2266950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  <a:hlinkClick r:id="rId3"/>
              </a:rPr>
              <a:t>https://arxiv.org/abs/2503.13160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23E45FE-5973-41AE-86DD-F8308161609B}"/>
              </a:ext>
            </a:extLst>
          </p:cNvPr>
          <p:cNvSpPr>
            <a:spLocks noGrp="1"/>
          </p:cNvSpPr>
          <p:nvPr/>
        </p:nvSpPr>
        <p:spPr>
          <a:xfrm>
            <a:off x="628650" y="2857500"/>
            <a:ext cx="1081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Avenue 官方資料集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BDEC766-5F0D-4E8D-A2D9-E32F42BC6A8E}"/>
              </a:ext>
            </a:extLst>
          </p:cNvPr>
          <p:cNvSpPr>
            <a:spLocks noGrp="1"/>
          </p:cNvSpPr>
          <p:nvPr/>
        </p:nvSpPr>
        <p:spPr>
          <a:xfrm>
            <a:off x="628650" y="3286125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  <a:hlinkClick r:id="rId4"/>
              </a:rPr>
              <a:t>https://www.cse.cuhk.edu.hk/leojia/projects/detectabnormal/dataset.html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9977950-F180-41DC-A80B-53979401130A}"/>
              </a:ext>
            </a:extLst>
          </p:cNvPr>
          <p:cNvSpPr>
            <a:spLocks noGrp="1"/>
          </p:cNvSpPr>
          <p:nvPr/>
        </p:nvSpPr>
        <p:spPr>
          <a:xfrm>
            <a:off x="628650" y="3876675"/>
            <a:ext cx="10810875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2100" b="1">
                <a:solidFill>
                  <a:srgbClr val="007D78"/>
                </a:solidFill>
                <a:latin typeface="Microsoft JhengHei"/>
                <a:ea typeface="Microsoft JhengHei"/>
                <a:cs typeface="Microsoft JhengHei"/>
              </a:rPr>
              <a:t>ShanghaiTech Campus 官方資料集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7EAB915-602C-46FB-A036-719494979F88}"/>
              </a:ext>
            </a:extLst>
          </p:cNvPr>
          <p:cNvSpPr>
            <a:spLocks noGrp="1"/>
          </p:cNvSpPr>
          <p:nvPr/>
        </p:nvSpPr>
        <p:spPr>
          <a:xfrm>
            <a:off x="628650" y="4305300"/>
            <a:ext cx="10810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defPPr>
          </a:lstStyle>
          <a:p>
            <a:pPr>
              <a:defRPr sz="1650" b="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</a:defRPr>
            </a:pPr>
            <a:r>
              <a:rPr sz="1650">
                <a:solidFill>
                  <a:srgbClr val="172C30"/>
                </a:solidFill>
                <a:latin typeface="Microsoft JhengHei"/>
                <a:ea typeface="Microsoft JhengHei"/>
                <a:cs typeface="Microsoft JhengHei"/>
                <a:hlinkClick r:id="rId5"/>
              </a:rPr>
              <a:t>https://svip-lab.github.io/dataset/campus_dataset.html</a:t>
            </a:r>
          </a:p>
        </p:txBody>
      </p:sp>
    </p:spTree>
    <p:extLst>
      <p:ext uri="{BB962C8B-B14F-4D97-AF65-F5344CB8AC3E}">
        <p14:creationId xmlns:p14="http://schemas.microsoft.com/office/powerpoint/2010/main" val="3060916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1183</Words>
  <Application>Microsoft Office PowerPoint</Application>
  <DocSecurity>0</DocSecurity>
  <PresentationFormat>寬螢幕</PresentationFormat>
  <Paragraphs>259</Paragraphs>
  <Slides>19</Slides>
  <Notes>19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2" baseType="lpstr">
      <vt:lpstr>Microsoft JhengHei</vt:lpstr>
      <vt:lpstr>Aptos</vt:lpstr>
      <vt:lpstr>ChatGPT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顏翊倫</dc:creator>
  <cp:lastModifiedBy>顏翊倫</cp:lastModifiedBy>
  <cp:revision>7</cp:revision>
  <dcterms:created xsi:type="dcterms:W3CDTF">2026-10-14T04:08:36Z</dcterms:created>
  <dcterms:modified xsi:type="dcterms:W3CDTF">2026-10-14T10:40:21Z</dcterms:modified>
</cp:coreProperties>
</file>