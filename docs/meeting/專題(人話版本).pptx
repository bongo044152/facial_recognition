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2" r:id="rId4"/>
    <p:sldId id="258" r:id="rId5"/>
    <p:sldId id="281" r:id="rId6"/>
    <p:sldId id="28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3" r:id="rId16"/>
    <p:sldId id="274" r:id="rId17"/>
    <p:sldId id="285" r:id="rId1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本簡報為大學生應用型專題討論稿。新系統尚未完成模型訓練。組員姓名與正式時程待組內確認。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依使用者指定順序安排。七項規定全數涵蓋，另補充預計驗證方式與參考資料。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D8E6-7906-742B-88DB-443257EA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A8CB7-9AD6-10A9-DCA6-743B91F91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C93E2-A374-0DBB-E128-E6713C1C9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原架構與設計動機由使用者於本輪直接說明。兩階段由 SD-MAE 先粗篩，再交給 LaGoVAD 分類評分。這是組內設計，不是兩篇論文已驗證的串接效果。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0F0AF-77E5-3F39-0B86-D8705CB732F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750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原架構與設計動機由使用者於本輪直接說明。兩階段由 SD-MAE 先粗篩，再交給 LaGoVAD 分類評分。這是組內設計，不是兩篇論文已驗證的串接效果。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E6986-1C1C-45AE-562D-4B9A23FB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D5DFD-23CA-0ADA-4D9F-2837E8CA6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88627-1C6E-5903-C54E-886DC2E04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原架構與設計動機由使用者於本輪直接說明。兩階段由 SD-MAE 先粗篩，再交給 LaGoVAD 分類評分。這是組內設計，不是兩篇論文已驗證的串接效果。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F4A2A-A391-EF10-F998-B12820256BC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6713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72BEE-EC69-426E-3B02-6A50C15E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D20C4-DC4C-9F89-1125-4537DBCB9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3391F-02A0-31F1-9BC8-986B8B571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原架構與設計動機由使用者於本輪直接說明。兩階段由 SD-MAE 先粗篩，再交給 LaGoVAD 分類評分。這是組內設計，不是兩篇論文已驗證的串接效果。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1CB6C-50E4-407B-7912-94D92090F91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8799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核心轉題原因來自使用者直接補充：LaGoVAD 速度非常快，基本上不需要 SD-MAE。未提供 FPS 或延遲，故不寫入速度數字，也不宣稱所有場景都無需兩階段。漏篩無法由下游補回是串接資料流的限制。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核心轉題原因來自使用者直接補充：LaGoVAD 速度非常快，基本上不需要 SD-MAE。未提供 FPS 或延遲，故不寫入速度數字，也不宣稱所有場景都無需兩階段。漏篩無法由下游補回是串接資料流的限制。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核心轉題原因來自使用者直接補充：LaGoVAD 速度非常快，基本上不需要 SD-MAE。未提供 FPS 或延遲，故不寫入速度數字，也不宣稱所有場景都無需兩階段。漏篩無法由下游補回是串接資料流的限制。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需求由本次對話整理。使用者輸入英文，錄音練習中文。系統為學習輔助工具，尚無使用者研究結果，不宣稱已改善口說能力。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動機依使用者直接修正：目標是已有一點中文基礎的外國初學者，想知道生活中的東西用中文怎麼念，因此提出中文口說輔助系統。圖片及英文輸入協助表達需求。尚未主張已完成使用者訪談或取得學習成效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AISHELL-3官方：https://www.openslr.org/93/ 。約85小時、218位母語者、88035句，附中文字與拼音標註。本機檢查共88035句，建立train71002句/174人、dev7871句/22人、test9162句/22人，各組說話者不重疊。這是自訂分割，非官方原始benchmark。尚未開始訓練。</a:t>
            </a:r>
          </a:p>
          <a:p>
            <a:r>
              <a:t>本次僅調整口頭報告的可讀性。拼音詞表、token ID、聲學特徵、CTC loss與參數更新等實作含義保留，但畫面以輸入、輸出及例子說明。未宣稱模型已完成訓練。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使用者提供的架構圖整理為可編輯流程。圖片和英文需求進入VLM，輸出中文練習句與英文意思。中文句子分支至文字轉拼音取得目標拼音，以及TTS生成示範。使用者聆聽後錄製整句中文，語音由Zipformer+CTC直接辨識為拼音。目標與辨識拼音進入序列對齊與比對，標出疑似錯誤，再提供英文矯正回饋，使用者可重新錄製。示範語音僅供聆聽，不需再辨識一次。資料保留聲調，初版回饋聚焦聲母韻母，細部聲調分析另行評估。VLM與TTS候選仍未定案。Qwen2.5-VL：https://arxiv.org/abs/2502.13923 。CosyVoice2：https://arxiv.org/abs/2412.10117 。Zipformer：https://proceedings.iclr.cc/paper_files/paper/2024/hash/c1bb0e3b062f0a443f2cc8a4ec4bb30d-Abstract-Conference.html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Qwen2.5-VL Technical Report（2025）：https://arxiv.org/abs/2502.13923 。CosyVoice 2 technical report（2024）：https://arxiv.org/abs/2412.10117 。兩者為候選，不宣稱本機8GB可同時順暢運行。CosyVoice2不同模式的前置條件應依官方程式確認。論文未直接驗證本系統的教材或糾音功能。</a:t>
            </a:r>
          </a:p>
          <a:p>
            <a:r>
              <a:t>本次僅調整口頭報告的可讀性。拼音詞表、token ID、聲學特徵、CTC loss與參數更新等實作含義保留，但畫面以輸入、輸出及例子說明。未宣稱模型已完成訓練。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頁為假設示例，非真實模型結果。序列對齊可使用Levenshtein，檢查替換/刪除/插入，將拼音拆成聲母與韻母，將差異映射到人工整理的英文提示。辨識差異不一定為使用者錯音，需加入可信度與無法判斷時重錄的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組設計的應用流程：對齊目標與辨識拼音token序列，可採Levenshtein動態規劃處理替換/刪除/插入。首版移除聲調數字後比較聲母韻母，避免把帶調token辨識等同已完成聲調矯正。經字音位置映射標示練習句，再由差異類型查詢英文矯正範本；例如n/l給鼻腔送氣提示，漏讀提示重念對應字，多讀提示核對句子。此為規劃中規則式回饋，發音提示需請具華語教學或語音背景者核對，尚未驗證教學成效。ASR可能出錯，因此英文以may等語氣呈現疑似差異，低信心可要求重錄，不能斷言使用者必然發錯。範本不是固定句子教材庫，只整理常見聲母韻母差異與英文說明。</a:t>
            </a:r>
          </a:p>
          <a:p>
            <a:r>
              <a:t>本次僅調整口頭報告的可讀性。拼音詞表、token ID、聲學特徵、CTC loss與參數更新等實作含義保留，但畫面以輸入、輸出及例子說明。未宣稱模型已完成訓練。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C8E9-DEB5-ABDF-2DDF-D1923B2C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FF9B0-0594-FB5C-5C13-7A0CD8930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2B267-B024-034B-C351-B60946723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組設計的應用流程：對齊目標與辨識拼音token序列，可採Levenshtein動態規劃處理替換/刪除/插入。首版移除聲調數字後比較聲母韻母，避免把帶調token辨識等同已完成聲調矯正。經字音位置映射標示練習句，再由差異類型查詢英文矯正範本；例如n/l給鼻腔送氣提示，漏讀提示重念對應字，多讀提示核對句子。此為規劃中規則式回饋，發音提示需請具華語教學或語音背景者核對，尚未驗證教學成效。ASR可能出錯，因此英文以may等語氣呈現疑似差異，低信心可要求重錄，不能斷言使用者必然發錯。範本不是固定句子教材庫，只整理常見聲母韻母差異與英文說明。</a:t>
            </a:r>
          </a:p>
          <a:p>
            <a:r>
              <a:t>本次僅調整口頭報告的可讀性。拼音詞表、token ID、聲學特徵、CTC loss與參數更新等實作含義保留，但畫面以輸入、輸出及例子說明。未宣稱模型已完成訓練。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9DF0E-7DA8-B4D8-CF89-6043F98FC6C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951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C47867C-1B05-4FA3-903D-5BF4D3B2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8167F1-D776-4699-8FE6-0C9A02A83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97A73EA3-95B4-4118-BC38-FAD6E3F8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68E30D-2E88-46C3-B837-A9C668C0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77FD5F8-80C1-40DF-84FF-BB6577F4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6FBEA6C-DB5E-49E1-9420-E3C6CC6E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5198E36-D640-4E74-A20B-A6D719553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C8DAA3E-B0DB-4D7E-8FE0-AD2FBB79686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07C2C66-FAA0-4526-A679-E71F8E96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DCE0CD-490A-482C-B4C7-69AF84A79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9B970D-3C5F-4193-9BB8-DA29BAE7F648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668000" cy="1905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36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中文口說輔助系統</a:t>
            </a:r>
            <a:endParaRPr sz="36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74B560-047D-4D4F-8FDC-F1EA92F41739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專題方向調整與新題目提案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66E82E-D1F3-4D08-857C-CEA2165531C0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3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結合生活圖片、英文意圖與拼音辨識的口說練習</a:t>
            </a:r>
            <a:endParaRPr sz="2325" b="0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6483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495E9C-244C-466C-9835-0C327DE09AC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目錄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66189F-C0D4-4BB9-8154-0ACCB55BA98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報告內容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4A910-C1F3-4E09-A110-20C91C5A0F8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E795-7222-4903-906E-EE121DF3C55D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286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原題目與轉題原因</a:t>
            </a:r>
            <a:endParaRPr sz="262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0CF0E4-067C-4467-B647-FD484ACAE9F7}"/>
              </a:ext>
            </a:extLst>
          </p:cNvPr>
          <p:cNvSpPr>
            <a:spLocks noGrp="1"/>
          </p:cNvSpPr>
          <p:nvPr/>
        </p:nvSpPr>
        <p:spPr>
          <a:xfrm>
            <a:off x="5810250" y="18097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第二段：新題目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802008-DC8D-4ABD-B068-E3D88FC01B7D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5715000" cy="74243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02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中文口說輔助系統</a:t>
            </a:r>
            <a:endParaRPr sz="2025" b="0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990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E1E2-1E0D-5DC8-F493-953D15A8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79D786-C1A0-D1CB-5E69-E2C98B293C7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</a:t>
            </a:r>
            <a:r>
              <a:rPr sz="1275" b="0" dirty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　</a:t>
            </a: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原題目</a:t>
            </a:r>
            <a:endParaRPr sz="1275" b="0" dirty="0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C776D2-0952-9B5D-F343-0BFA1686991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主旨與動機</a:t>
            </a:r>
            <a:r>
              <a:rPr lang="en-US" altLang="zh-TW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:</a:t>
            </a:r>
            <a:r>
              <a:rPr lang="zh-TW" altLang="en-US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dirty="0"/>
              <a:t>影片異常檢測</a:t>
            </a:r>
            <a:endParaRPr sz="292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907AE4-9303-7C33-8A03-4F14EFC4653E}"/>
              </a:ext>
            </a:extLst>
          </p:cNvPr>
          <p:cNvSpPr>
            <a:spLocks noGrp="1"/>
          </p:cNvSpPr>
          <p:nvPr/>
        </p:nvSpPr>
        <p:spPr>
          <a:xfrm>
            <a:off x="609600" y="1582510"/>
            <a:ext cx="10477500" cy="208491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場景：校園安全場景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需求：監視器的畫面很多，如果校園內發生鬥毆事件，希望可以回報異常給警衛室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架構：用 </a:t>
            </a:r>
            <a:r>
              <a:rPr lang="en-US" altLang="zh-TW" dirty="0"/>
              <a:t>SD-MAE </a:t>
            </a:r>
            <a:r>
              <a:rPr lang="zh-TW" altLang="en-US" dirty="0"/>
              <a:t>當第一階段篩選模型，找出異常片段與位置，再交給下游 </a:t>
            </a:r>
            <a:r>
              <a:rPr lang="en-US" altLang="zh-TW" dirty="0" err="1"/>
              <a:t>LaGoVAD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 err="1"/>
              <a:t>AnomalyRuler</a:t>
            </a:r>
            <a:r>
              <a:rPr lang="en-US" altLang="zh-TW" dirty="0"/>
              <a:t> </a:t>
            </a:r>
            <a:r>
              <a:rPr lang="zh-TW" altLang="en-US" dirty="0"/>
              <a:t>做二次判斷與分類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分工邏輯：上游 </a:t>
            </a:r>
            <a:r>
              <a:rPr lang="en-US" altLang="zh-TW" dirty="0"/>
              <a:t>SD-MAE </a:t>
            </a:r>
            <a:r>
              <a:rPr lang="zh-TW" altLang="en-US" dirty="0"/>
              <a:t>快但粗，負責「哪裡、何時有事」；下游準但慢或缺空間資訊，負責「分辨異常的種類」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5213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424137CF-3366-4ABE-8D23-E06E456816F6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72250" y="2738438"/>
            <a:ext cx="952500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DCE52BF4-09D9-4FEA-8572-6C6C7DACD53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800350" y="2738438"/>
            <a:ext cx="914400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9DB058C-F0E3-4B3D-9F91-F07FBB1C95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原題目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04534E-1F76-42E1-8B26-91113A26EBA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原題目：兩階段影片異常辨識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CB2B68-4609-4393-B2FC-FFEB21E31AAF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19075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影片輸入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F2CE9A-303C-4125-BBE5-62EB6FC4289D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285750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SD-MAE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粗略篩選</a:t>
            </a:r>
            <a:endParaRPr sz="18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53437D-0AB8-436F-A59B-64E4963BC166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390525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dirty="0" err="1"/>
              <a:t>AnomalyRuler</a:t>
            </a:r>
            <a:endParaRPr sz="18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細部分類與評分</a:t>
            </a:r>
            <a:endParaRPr sz="18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3B8EE2-31A3-4F37-BDC4-553B0495E2A9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原先的設計理由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A83003-937D-4FA8-95B6-6C04D0CC1FDD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希望用較輕量的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SD-MAE </a:t>
            </a: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篩掉正常片段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</a:p>
          <a:p>
            <a:pPr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減少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en-US" altLang="zh-TW" dirty="0" err="1"/>
              <a:t>AnomalyRuler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提出可解釋性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F6526C-26DA-CD89-B6BE-2089660A6FF6}"/>
              </a:ext>
            </a:extLst>
          </p:cNvPr>
          <p:cNvSpPr>
            <a:spLocks noGrp="1"/>
          </p:cNvSpPr>
          <p:nvPr/>
        </p:nvSpPr>
        <p:spPr>
          <a:xfrm>
            <a:off x="4373940" y="3272522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輕巧、快</a:t>
            </a:r>
          </a:p>
          <a:p>
            <a:r>
              <a:t>但是誤判率高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99EB4D4-79DF-87D9-69B8-6467A205BD8E}"/>
              </a:ext>
            </a:extLst>
          </p:cNvPr>
          <p:cNvSpPr>
            <a:spLocks noGrp="1"/>
          </p:cNvSpPr>
          <p:nvPr/>
        </p:nvSpPr>
        <p:spPr>
          <a:xfrm>
            <a:off x="8194011" y="3267670"/>
            <a:ext cx="256672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沉重、慢</a:t>
            </a:r>
            <a:endParaRPr dirty="0"/>
          </a:p>
          <a:p>
            <a:r>
              <a:rPr dirty="0" err="1"/>
              <a:t>但是誤判率低</a:t>
            </a:r>
            <a:endParaRPr dirty="0"/>
          </a:p>
          <a:p>
            <a:r>
              <a:rPr dirty="0" err="1"/>
              <a:t>且提供更加詳細的訊息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92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5C14-2756-04DD-A776-86427773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D9229B9-263A-F498-2279-179C85E558F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原題目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8602FD-2C18-1019-0930-820B2A20277A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原題目：兩階段影片異常辨識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96BF864-FFB0-0754-923F-D00162219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49734"/>
              </p:ext>
            </p:extLst>
          </p:nvPr>
        </p:nvGraphicFramePr>
        <p:xfrm>
          <a:off x="1565728" y="1862665"/>
          <a:ext cx="9060544" cy="3833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543">
                  <a:extLst>
                    <a:ext uri="{9D8B030D-6E8A-4147-A177-3AD203B41FA5}">
                      <a16:colId xmlns:a16="http://schemas.microsoft.com/office/drawing/2014/main" val="2829138982"/>
                    </a:ext>
                  </a:extLst>
                </a:gridCol>
                <a:gridCol w="2454729">
                  <a:extLst>
                    <a:ext uri="{9D8B030D-6E8A-4147-A177-3AD203B41FA5}">
                      <a16:colId xmlns:a16="http://schemas.microsoft.com/office/drawing/2014/main" val="618764189"/>
                    </a:ext>
                  </a:extLst>
                </a:gridCol>
                <a:gridCol w="2265136">
                  <a:extLst>
                    <a:ext uri="{9D8B030D-6E8A-4147-A177-3AD203B41FA5}">
                      <a16:colId xmlns:a16="http://schemas.microsoft.com/office/drawing/2014/main" val="1377811754"/>
                    </a:ext>
                  </a:extLst>
                </a:gridCol>
                <a:gridCol w="2265136">
                  <a:extLst>
                    <a:ext uri="{9D8B030D-6E8A-4147-A177-3AD203B41FA5}">
                      <a16:colId xmlns:a16="http://schemas.microsoft.com/office/drawing/2014/main" val="1734441000"/>
                    </a:ext>
                  </a:extLst>
                </a:gridCol>
              </a:tblGrid>
              <a:tr h="55773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SD-MAE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AnomalyRuler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LaGoVAD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710667"/>
                  </a:ext>
                </a:extLst>
              </a:tr>
              <a:tr h="962660">
                <a:tc>
                  <a:txBody>
                    <a:bodyPr/>
                    <a:lstStyle/>
                    <a:p>
                      <a:r>
                        <a:rPr lang="zh-TW" altLang="en-US" dirty="0"/>
                        <a:t>核心作法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Auto-Encoder </a:t>
                      </a:r>
                      <a:r>
                        <a:rPr lang="zh-TW" altLang="en-US" dirty="0"/>
                        <a:t>重建正常影像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VLM </a:t>
                      </a:r>
                      <a:r>
                        <a:rPr lang="zh-TW" altLang="en-US" dirty="0"/>
                        <a:t>和 </a:t>
                      </a:r>
                      <a:r>
                        <a:rPr lang="en-US" altLang="zh-TW" dirty="0"/>
                        <a:t>LLM</a:t>
                      </a:r>
                      <a:r>
                        <a:rPr lang="zh-TW" altLang="en-US" dirty="0"/>
                        <a:t> 協作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CLIP </a:t>
                      </a:r>
                      <a:r>
                        <a:rPr lang="en-US" altLang="zh-TW" dirty="0" err="1"/>
                        <a:t>ViT</a:t>
                      </a:r>
                      <a:r>
                        <a:rPr lang="en-US" altLang="zh-TW" dirty="0"/>
                        <a:t>-B/16</a:t>
                      </a:r>
                    </a:p>
                    <a:p>
                      <a:r>
                        <a:rPr lang="zh-TW" altLang="en-US" dirty="0"/>
                        <a:t>用文字定義異常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97367"/>
                  </a:ext>
                </a:extLst>
              </a:tr>
              <a:tr h="557732">
                <a:tc>
                  <a:txBody>
                    <a:bodyPr/>
                    <a:lstStyle/>
                    <a:p>
                      <a:r>
                        <a:rPr lang="zh-TW" altLang="en-US" dirty="0"/>
                        <a:t>訓練需求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只用正常影片訓練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自己合成異常影片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免訓練，需少量正常樣本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用影片加文字資料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自己合成異常影片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206108"/>
                  </a:ext>
                </a:extLst>
              </a:tr>
              <a:tr h="557732">
                <a:tc>
                  <a:txBody>
                    <a:bodyPr/>
                    <a:lstStyle/>
                    <a:p>
                      <a:r>
                        <a:rPr lang="zh-TW" altLang="en-US" dirty="0"/>
                        <a:t>異常定義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重建不好就是異常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LLM</a:t>
                      </a:r>
                      <a:r>
                        <a:rPr lang="zh-TW" altLang="en-US" dirty="0"/>
                        <a:t> 自己討論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比對使用者的定義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936090"/>
                  </a:ext>
                </a:extLst>
              </a:tr>
              <a:tr h="557732">
                <a:tc>
                  <a:txBody>
                    <a:bodyPr/>
                    <a:lstStyle/>
                    <a:p>
                      <a:r>
                        <a:rPr lang="zh-TW" altLang="en-US" dirty="0"/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05388"/>
                  </a:ext>
                </a:extLst>
              </a:tr>
              <a:tr h="557732">
                <a:tc>
                  <a:txBody>
                    <a:bodyPr/>
                    <a:lstStyle/>
                    <a:p>
                      <a:r>
                        <a:rPr lang="zh-TW" altLang="en-US" dirty="0"/>
                        <a:t>換場景或者新異常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需要重新訓練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LLM</a:t>
                      </a:r>
                      <a:r>
                        <a:rPr lang="zh-TW" altLang="en-US" dirty="0"/>
                        <a:t> 自己適應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更換異常定義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554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5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8F64-9495-82F4-E405-ABE8F44C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單箭頭接點 1">
            <a:extLst>
              <a:ext uri="{FF2B5EF4-FFF2-40B4-BE49-F238E27FC236}">
                <a16:creationId xmlns:a16="http://schemas.microsoft.com/office/drawing/2014/main" id="{2DEB2987-6195-DB58-6DC1-DEE308F6EA8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72250" y="2738438"/>
            <a:ext cx="952500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61B51576-6409-F3C1-89A1-74B43B2891B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800350" y="2738438"/>
            <a:ext cx="914400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F8E1BD-C598-B4FB-9C7E-5EAC022E14F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原題目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AB24A8-53DD-A058-96A4-39C6988DE3C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原題目</a:t>
            </a:r>
            <a:r>
              <a:rPr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92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兩階段影片異常辨識</a:t>
            </a:r>
            <a:endParaRPr sz="292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9569B5-CC07-B255-C6B0-E611C10F69D0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19075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影片輸入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1209BD-0440-BF39-AEDA-03BCB3EB0DA9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285750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SD-MAE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粗略篩選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477A4D-B55E-CF09-6C55-A249279B3942}"/>
              </a:ext>
            </a:extLst>
          </p:cNvPr>
          <p:cNvSpPr>
            <a:spLocks noGrp="1"/>
          </p:cNvSpPr>
          <p:nvPr/>
        </p:nvSpPr>
        <p:spPr>
          <a:xfrm>
            <a:off x="7524750" y="2238375"/>
            <a:ext cx="3905250" cy="1000125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</a:t>
            </a:r>
            <a:endParaRPr sz="18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細部分類與評分</a:t>
            </a:r>
            <a:endParaRPr sz="18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917BCE-B3B7-0C47-2B76-DC6C80B21348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原先的設計理由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A6D1CF-85C6-B931-6E77-102D820D335C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希望用較輕量的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SD-MAE </a:t>
            </a: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篩掉正常片段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，</a:t>
            </a:r>
          </a:p>
          <a:p>
            <a: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減少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25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必須處理的資料量</a:t>
            </a:r>
            <a:r>
              <a:rPr sz="2250" b="0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93AED6-D2C3-4FC8-C40E-7C9D3CD087C6}"/>
              </a:ext>
            </a:extLst>
          </p:cNvPr>
          <p:cNvSpPr>
            <a:spLocks noGrp="1"/>
          </p:cNvSpPr>
          <p:nvPr/>
        </p:nvSpPr>
        <p:spPr>
          <a:xfrm>
            <a:off x="4373940" y="3272522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輕巧、快</a:t>
            </a:r>
          </a:p>
          <a:p>
            <a:r>
              <a:t>但是誤判率高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62AD426-8A5D-CDB7-9F16-BA2297BC4E57}"/>
              </a:ext>
            </a:extLst>
          </p:cNvPr>
          <p:cNvSpPr>
            <a:spLocks noGrp="1"/>
          </p:cNvSpPr>
          <p:nvPr/>
        </p:nvSpPr>
        <p:spPr>
          <a:xfrm>
            <a:off x="7486650" y="3238500"/>
            <a:ext cx="448712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沉重、慢</a:t>
            </a:r>
          </a:p>
          <a:p>
            <a:r>
              <a:t>但是誤判率低</a:t>
            </a:r>
          </a:p>
          <a:p>
            <a:r>
              <a:t>且提供更加詳細的訊息(如異常種類等資訊)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EC15ABC-8F9B-E70A-5A27-73C8FD8B92DD}"/>
              </a:ext>
            </a:extLst>
          </p:cNvPr>
          <p:cNvSpPr txBox="1"/>
          <p:nvPr/>
        </p:nvSpPr>
        <p:spPr>
          <a:xfrm>
            <a:off x="8525557" y="1753374"/>
            <a:ext cx="2099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原</a:t>
            </a:r>
            <a:r>
              <a:rPr lang="en-US" altLang="zh-TW" sz="1800" dirty="0"/>
              <a:t>:</a:t>
            </a:r>
            <a:r>
              <a:rPr lang="zh-TW" altLang="en-US" sz="1800" dirty="0"/>
              <a:t> </a:t>
            </a:r>
            <a:r>
              <a:rPr lang="en-US" altLang="zh-TW" sz="1800" dirty="0" err="1"/>
              <a:t>AnomalyRuler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73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8F57CB-E629-4451-8985-B81EFFCC47C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轉題原因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A57557-1303-4A6F-ABA0-4D4623C9D47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轉題原因：前置篩選的必要性不足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77626B-D08C-4287-A3B0-84BA1002BAF6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目標</a:t>
            </a: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應用場景: 校園安保管理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2668EA-E998-4C56-97CC-CEDD6B70508F}"/>
              </a:ext>
            </a:extLst>
          </p:cNvPr>
          <p:cNvSpPr>
            <a:spLocks noGrp="1"/>
          </p:cNvSpPr>
          <p:nvPr/>
        </p:nvSpPr>
        <p:spPr>
          <a:xfrm>
            <a:off x="609600" y="2383296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當異常事件</a:t>
            </a:r>
            <a:r>
              <a:t>如打架、鬥毆情形發生時，管理人員應該及時的被通知</a:t>
            </a:r>
            <a:endParaRPr sz="2100" b="1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0EFCCC-A6F7-CC6D-BD58-0A702D9FE672}"/>
              </a:ext>
            </a:extLst>
          </p:cNvPr>
          <p:cNvSpPr>
            <a:spLocks noGrp="1"/>
          </p:cNvSpPr>
          <p:nvPr/>
        </p:nvSpPr>
        <p:spPr>
          <a:xfrm>
            <a:off x="609600" y="3666247"/>
            <a:ext cx="10477500" cy="10468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SD-MAE 判斷是否發生異常</a:t>
            </a:r>
          </a:p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 判斷異常的種類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458E5A-A77F-B802-6BDF-A87EA5463772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我們的架構</a:t>
            </a:r>
            <a:endParaRPr sz="1800" b="1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EA20897-4484-41B3-9D85-63E2D3C413A0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8816699" y="3658990"/>
            <a:ext cx="454834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EAA275C-0F3C-493A-9637-EB1E930905B4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6361615" y="3658990"/>
            <a:ext cx="454834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FF06BB3-2636-EE95-3057-9FDB7F5479C9}"/>
              </a:ext>
            </a:extLst>
          </p:cNvPr>
          <p:cNvSpPr>
            <a:spLocks noGrp="1"/>
          </p:cNvSpPr>
          <p:nvPr/>
        </p:nvSpPr>
        <p:spPr>
          <a:xfrm>
            <a:off x="4828090" y="3377587"/>
            <a:ext cx="1533525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影片輸入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FC96FB5-2371-CB7B-18E8-82A73AF5A36D}"/>
              </a:ext>
            </a:extLst>
          </p:cNvPr>
          <p:cNvSpPr>
            <a:spLocks noGrp="1"/>
          </p:cNvSpPr>
          <p:nvPr/>
        </p:nvSpPr>
        <p:spPr>
          <a:xfrm>
            <a:off x="6816449" y="3377587"/>
            <a:ext cx="2000250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SD-MAE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粗略篩選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5C710B-8C01-C106-B1C8-E4F7C2409A44}"/>
              </a:ext>
            </a:extLst>
          </p:cNvPr>
          <p:cNvSpPr>
            <a:spLocks noGrp="1"/>
          </p:cNvSpPr>
          <p:nvPr/>
        </p:nvSpPr>
        <p:spPr>
          <a:xfrm>
            <a:off x="9271533" y="3377587"/>
            <a:ext cx="2733675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細部分類與評分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D62687-8AFD-4559-1D1A-BC97A08FE72B}"/>
              </a:ext>
            </a:extLst>
          </p:cNvPr>
          <p:cNvSpPr>
            <a:spLocks noGrp="1"/>
          </p:cNvSpPr>
          <p:nvPr/>
        </p:nvSpPr>
        <p:spPr>
          <a:xfrm>
            <a:off x="609600" y="4720389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質疑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8B1968-FDBE-8DB6-36FE-271526D558A7}"/>
              </a:ext>
            </a:extLst>
          </p:cNvPr>
          <p:cNvSpPr>
            <a:spLocks noGrp="1"/>
          </p:cNvSpPr>
          <p:nvPr/>
        </p:nvSpPr>
        <p:spPr>
          <a:xfrm>
            <a:off x="609600" y="5108645"/>
            <a:ext cx="10477500" cy="10468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對於校園安全而言，異常種類是否具有必要性? 校安人員接受到異常訊息後看一眼監視器就知道發生什麼事情了</a:t>
            </a:r>
          </a:p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 如果推論速度足夠快，那麼 SD-MAE 有什麼用?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8BAAC1A-9F17-78E5-9ECD-FBD55D0AAC05}"/>
              </a:ext>
            </a:extLst>
          </p:cNvPr>
          <p:cNvSpPr>
            <a:spLocks noGrp="1"/>
          </p:cNvSpPr>
          <p:nvPr/>
        </p:nvSpPr>
        <p:spPr>
          <a:xfrm>
            <a:off x="7031744" y="3947649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輕巧、快</a:t>
            </a:r>
          </a:p>
          <a:p>
            <a:r>
              <a:t>但是誤判率高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DCFBC5A-451C-70E7-C3FE-6EC32CD460BD}"/>
              </a:ext>
            </a:extLst>
          </p:cNvPr>
          <p:cNvSpPr>
            <a:spLocks noGrp="1"/>
          </p:cNvSpPr>
          <p:nvPr/>
        </p:nvSpPr>
        <p:spPr>
          <a:xfrm>
            <a:off x="9853540" y="3946814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沉重、慢</a:t>
            </a:r>
          </a:p>
          <a:p>
            <a:r>
              <a:t>但是誤判率低</a:t>
            </a:r>
          </a:p>
        </p:txBody>
      </p:sp>
    </p:spTree>
    <p:extLst>
      <p:ext uri="{BB962C8B-B14F-4D97-AF65-F5344CB8AC3E}">
        <p14:creationId xmlns:p14="http://schemas.microsoft.com/office/powerpoint/2010/main" val="40349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24BB47-CAF8-E9E2-BB43-D004E971F42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轉題原因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46DF22-3E3C-9E2A-4C12-B33FA8D8424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轉題原因：前置篩選的必要性不足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F15E3D-255E-2D4D-1364-24F361C930DF}"/>
              </a:ext>
            </a:extLst>
          </p:cNvPr>
          <p:cNvSpPr>
            <a:spLocks noGrp="1"/>
          </p:cNvSpPr>
          <p:nvPr/>
        </p:nvSpPr>
        <p:spPr>
          <a:xfrm>
            <a:off x="609600" y="30618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組內觀察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05538D-C784-38F7-9C42-087D746582DF}"/>
              </a:ext>
            </a:extLst>
          </p:cNvPr>
          <p:cNvSpPr>
            <a:spLocks noGrp="1"/>
          </p:cNvSpPr>
          <p:nvPr/>
        </p:nvSpPr>
        <p:spPr>
          <a:xfrm>
            <a:off x="609600" y="3521111"/>
            <a:ext cx="10477500" cy="10947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</a:t>
            </a:r>
            <a:r>
              <a:rPr sz="2100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提供的異常種類或許可以未來可以做其他分析，如這個走廊跌倒事件發生頻率高</a:t>
            </a:r>
            <a:endParaRPr sz="21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 marL="457200" indent="-457200"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dirty="0" err="1"/>
              <a:t>LaGoVAD</a:t>
            </a:r>
            <a:r>
              <a:rPr dirty="0"/>
              <a:t> </a:t>
            </a:r>
            <a:r>
              <a:rPr dirty="0" err="1"/>
              <a:t>的運行速度其實跟</a:t>
            </a:r>
            <a:r>
              <a:rPr dirty="0"/>
              <a:t> SD-MAE </a:t>
            </a:r>
            <a:r>
              <a:rPr dirty="0" err="1"/>
              <a:t>差不多</a:t>
            </a:r>
            <a:endParaRPr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60D45-60DD-F361-0229-6F65F7A8020C}"/>
              </a:ext>
            </a:extLst>
          </p:cNvPr>
          <p:cNvSpPr>
            <a:spLocks noGrp="1"/>
          </p:cNvSpPr>
          <p:nvPr/>
        </p:nvSpPr>
        <p:spPr>
          <a:xfrm>
            <a:off x="609600" y="1548397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質疑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B73822-542B-7D92-42C3-E020CF7FC78F}"/>
              </a:ext>
            </a:extLst>
          </p:cNvPr>
          <p:cNvSpPr>
            <a:spLocks noGrp="1"/>
          </p:cNvSpPr>
          <p:nvPr/>
        </p:nvSpPr>
        <p:spPr>
          <a:xfrm>
            <a:off x="609600" y="1936653"/>
            <a:ext cx="10477500" cy="10468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對於校園安全而言，異常種類是否具有必要性? 校安人員接受到異常訊息後看一眼監視器就知道發生什麼事情了</a:t>
            </a:r>
          </a:p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 如果推論速度足夠快，那麼 SD-MAE 有什麼用?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66141BD-F7C3-4C36-809F-3D0BA7163FA2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8678913" y="5481527"/>
            <a:ext cx="454834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8BD728-D70C-4BCB-A8AB-98DE568A1AF9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6223829" y="5481527"/>
            <a:ext cx="454834" cy="0"/>
          </a:xfrm>
          <a:prstGeom prst="straightConnector1">
            <a:avLst/>
          </a:prstGeom>
          <a:ln w="19050">
            <a:solidFill>
              <a:srgbClr val="187A73"/>
            </a:solidFill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1C5E16B-F386-3523-360D-EB9062487B3C}"/>
              </a:ext>
            </a:extLst>
          </p:cNvPr>
          <p:cNvSpPr>
            <a:spLocks noGrp="1"/>
          </p:cNvSpPr>
          <p:nvPr/>
        </p:nvSpPr>
        <p:spPr>
          <a:xfrm>
            <a:off x="4690304" y="5200124"/>
            <a:ext cx="1533525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影片輸入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90C319-1EE9-1349-F25D-C1BCFB631873}"/>
              </a:ext>
            </a:extLst>
          </p:cNvPr>
          <p:cNvSpPr>
            <a:spLocks noGrp="1"/>
          </p:cNvSpPr>
          <p:nvPr/>
        </p:nvSpPr>
        <p:spPr>
          <a:xfrm>
            <a:off x="6678663" y="5200124"/>
            <a:ext cx="2000250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SD-MAE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粗略篩選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3C872F-95CF-0939-849E-62CCFCAF2358}"/>
              </a:ext>
            </a:extLst>
          </p:cNvPr>
          <p:cNvSpPr>
            <a:spLocks noGrp="1"/>
          </p:cNvSpPr>
          <p:nvPr/>
        </p:nvSpPr>
        <p:spPr>
          <a:xfrm>
            <a:off x="9133747" y="5200124"/>
            <a:ext cx="2733675" cy="562806"/>
          </a:xfrm>
          <a:prstGeom prst="rect">
            <a:avLst/>
          </a:prstGeom>
          <a:solidFill>
            <a:srgbClr val="E6EFEB"/>
          </a:solidFill>
          <a:ln w="9525">
            <a:solidFill>
              <a:srgbClr val="D8E0DD"/>
            </a:solidFill>
          </a:ln>
        </p:spPr>
        <p:txBody>
          <a:bodyPr anchor="ctr"/>
          <a:lstStyle>
            <a:defPPr algn="ctr"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LaGoVAD</a:t>
            </a:r>
          </a:p>
          <a:p>
            <a:pPr algn="ctr">
              <a:buNone/>
              <a:def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細部分類與評分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5652F81-827C-619E-EDEA-99CE05B8F2CE}"/>
              </a:ext>
            </a:extLst>
          </p:cNvPr>
          <p:cNvSpPr>
            <a:spLocks noGrp="1"/>
          </p:cNvSpPr>
          <p:nvPr/>
        </p:nvSpPr>
        <p:spPr>
          <a:xfrm>
            <a:off x="6893958" y="5770186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輕巧、快</a:t>
            </a:r>
          </a:p>
          <a:p>
            <a:r>
              <a:t>但是誤判率高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4944D00-FC09-3E72-8B2E-DBC565C6A362}"/>
              </a:ext>
            </a:extLst>
          </p:cNvPr>
          <p:cNvSpPr>
            <a:spLocks noGrp="1"/>
          </p:cNvSpPr>
          <p:nvPr/>
        </p:nvSpPr>
        <p:spPr>
          <a:xfrm>
            <a:off x="9715754" y="5769351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沉重、慢</a:t>
            </a:r>
          </a:p>
          <a:p>
            <a:r>
              <a:t>但是誤判率低</a:t>
            </a:r>
          </a:p>
        </p:txBody>
      </p:sp>
    </p:spTree>
    <p:extLst>
      <p:ext uri="{BB962C8B-B14F-4D97-AF65-F5344CB8AC3E}">
        <p14:creationId xmlns:p14="http://schemas.microsoft.com/office/powerpoint/2010/main" val="343261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B4B838-6B28-E9CB-2364-9B5E11E101F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第一段　轉題原因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5F3490-A035-CBD7-A2B0-6666E2C49486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其他可能的研究</a:t>
            </a:r>
            <a:endParaRPr sz="2925" b="1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EC3103-9CA1-5725-89C2-F6736D5A969C}"/>
              </a:ext>
            </a:extLst>
          </p:cNvPr>
          <p:cNvSpPr>
            <a:spLocks noGrp="1"/>
          </p:cNvSpPr>
          <p:nvPr/>
        </p:nvSpPr>
        <p:spPr>
          <a:xfrm>
            <a:off x="609600" y="1548397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異常更精細的判斷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033355-30CF-9504-2E05-ED108480782C}"/>
              </a:ext>
            </a:extLst>
          </p:cNvPr>
          <p:cNvSpPr>
            <a:spLocks noGrp="1"/>
          </p:cNvSpPr>
          <p:nvPr/>
        </p:nvSpPr>
        <p:spPr>
          <a:xfrm>
            <a:off x="609600" y="1808760"/>
            <a:ext cx="10477500" cy="104688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考慮時間資訊</a:t>
            </a:r>
            <a:endParaRPr/>
          </a:p>
          <a:p>
            <a:pPr marL="457200" indent="-457200">
              <a:buFont typeface="+mj-lt"/>
              <a:buAutoNum type="arabicPeriod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考慮身分資訊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4050F9-D353-0F95-7B70-5FB9595D8210}"/>
              </a:ext>
            </a:extLst>
          </p:cNvPr>
          <p:cNvSpPr>
            <a:spLocks noGrp="1"/>
          </p:cNvSpPr>
          <p:nvPr/>
        </p:nvSpPr>
        <p:spPr>
          <a:xfrm>
            <a:off x="609600" y="2925509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考慮時間資訊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64049F-2E6D-F2A5-D500-A8462012C294}"/>
              </a:ext>
            </a:extLst>
          </p:cNvPr>
          <p:cNvSpPr>
            <a:spLocks noGrp="1"/>
          </p:cNvSpPr>
          <p:nvPr/>
        </p:nvSpPr>
        <p:spPr>
          <a:xfrm>
            <a:off x="609600" y="3376372"/>
            <a:ext cx="10477500" cy="9562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人跌倒算是異常，但如果之後自己爬起來或許不用驚動校安人員</a:t>
            </a:r>
            <a:endParaRPr sz="21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但如果倒地不起，則應該通知校安人員</a:t>
            </a:r>
            <a:endParaRPr sz="21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FD5143-0256-E482-BE24-083DC72081FE}"/>
              </a:ext>
            </a:extLst>
          </p:cNvPr>
          <p:cNvSpPr>
            <a:spLocks noGrp="1"/>
          </p:cNvSpPr>
          <p:nvPr/>
        </p:nvSpPr>
        <p:spPr>
          <a:xfrm>
            <a:off x="609600" y="4402523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考慮身分資訊 (可能要限縮使用場景)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3DA421A-637E-4F16-FA47-FD894F9A7702}"/>
              </a:ext>
            </a:extLst>
          </p:cNvPr>
          <p:cNvSpPr>
            <a:spLocks noGrp="1"/>
          </p:cNvSpPr>
          <p:nvPr/>
        </p:nvSpPr>
        <p:spPr>
          <a:xfrm>
            <a:off x="609600" y="4783522"/>
            <a:ext cx="10477500" cy="144544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人走進男廁所</a:t>
            </a:r>
            <a:r>
              <a:rPr lang="en-US" altLang="zh-TW" dirty="0"/>
              <a:t>:</a:t>
            </a:r>
            <a:endParaRPr dirty="0"/>
          </a:p>
          <a:p>
            <a:pPr marL="342900" indent="-342900">
              <a:buFont typeface="Arial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男生</a:t>
            </a:r>
            <a:r>
              <a:rPr lang="en-US" altLang="zh-TW" dirty="0"/>
              <a:t>:</a:t>
            </a:r>
            <a:r>
              <a:rPr lang="zh-TW" altLang="en-US" dirty="0"/>
              <a:t> 正常</a:t>
            </a:r>
            <a:endParaRPr lang="en-US" dirty="0"/>
          </a:p>
          <a:p>
            <a:pPr marL="342900" indent="-342900">
              <a:buFont typeface="Arial"/>
              <a:buChar char="•"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女生</a:t>
            </a:r>
            <a:r>
              <a:rPr lang="en-US" altLang="zh-TW" dirty="0"/>
              <a:t>: </a:t>
            </a:r>
            <a:r>
              <a:rPr lang="zh-TW" altLang="en-US" dirty="0"/>
              <a:t>異常</a:t>
            </a:r>
          </a:p>
        </p:txBody>
      </p:sp>
    </p:spTree>
    <p:extLst>
      <p:ext uri="{BB962C8B-B14F-4D97-AF65-F5344CB8AC3E}">
        <p14:creationId xmlns:p14="http://schemas.microsoft.com/office/powerpoint/2010/main" val="3587667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45D8FC-4605-4669-8D1A-ADBBB936D1A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　1. 專題簡介／目標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93D54C-5314-40F9-A2E7-6E6FAFCB7EA5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新題目：中文口說輔助系統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935600-E73E-48D9-B072-3281E607282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目標使用者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A6FDB9-57B5-445E-A38F-D270A61CC2AB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9530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4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已有一點中文基礎，</a:t>
            </a:r>
          </a:p>
          <a:p>
            <a:pPr>
              <a:buNone/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希望學習生活用語的外國人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4E190C-3EC8-466E-AE7B-0D5C56EA116E}"/>
              </a:ext>
            </a:extLst>
          </p:cNvPr>
          <p:cNvSpPr>
            <a:spLocks noGrp="1"/>
          </p:cNvSpPr>
          <p:nvPr/>
        </p:nvSpPr>
        <p:spPr>
          <a:xfrm>
            <a:off x="6429375" y="180975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預期功能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6BD2BB-9C3B-4108-9308-2C1ED233DF08}"/>
              </a:ext>
            </a:extLst>
          </p:cNvPr>
          <p:cNvSpPr>
            <a:spLocks noGrp="1"/>
          </p:cNvSpPr>
          <p:nvPr/>
        </p:nvSpPr>
        <p:spPr>
          <a:xfrm>
            <a:off x="6429375" y="2428875"/>
            <a:ext cx="50482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知道生活中的東西用中文怎麼念</a:t>
            </a:r>
            <a:endParaRPr sz="2100" b="0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聆聽示範並練習整句中文</a:t>
            </a:r>
            <a:endParaRPr sz="2100" b="0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buNone/>
              <a:defRPr sz="210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取得拼音差異與發音提示</a:t>
            </a:r>
            <a:endParaRPr sz="2100" b="0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725700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CD4AD1-A5A2-4DC5-822D-8F17FEAD75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　2. 動機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A840BC-85B0-4443-9B96-8CBA4E052371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動機：想知道生活中的東西用中文怎麼念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16253B-957B-442A-8DC7-652778C0492D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4E775A-8C66-43D9-BB18-8CCBE130B811}"/>
              </a:ext>
            </a:extLst>
          </p:cNvPr>
          <p:cNvSpPr>
            <a:spLocks noGrp="1"/>
          </p:cNvSpPr>
          <p:nvPr/>
        </p:nvSpPr>
        <p:spPr>
          <a:xfrm>
            <a:off x="1333500" y="1762125"/>
            <a:ext cx="9906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有基礎，仍會遇到不會念的生活用語</a:t>
            </a:r>
            <a:endParaRPr sz="21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6F9C44-1311-4441-A496-2007D3754313}"/>
              </a:ext>
            </a:extLst>
          </p:cNvPr>
          <p:cNvSpPr>
            <a:spLocks noGrp="1"/>
          </p:cNvSpPr>
          <p:nvPr/>
        </p:nvSpPr>
        <p:spPr>
          <a:xfrm>
            <a:off x="1333500" y="2219325"/>
            <a:ext cx="9906000" cy="796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rPr>
              <a:t>已有一點中文基礎的外國初學者，能學習簡單中文，但不熟悉身邊物品的中文說法</a:t>
            </a:r>
            <a:r>
              <a:rPr sz="1800" b="0" dirty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C07F06-7B4F-4EFE-B8C5-22A7248F9739}"/>
              </a:ext>
            </a:extLst>
          </p:cNvPr>
          <p:cNvSpPr>
            <a:spLocks noGrp="1"/>
          </p:cNvSpPr>
          <p:nvPr/>
        </p:nvSpPr>
        <p:spPr>
          <a:xfrm>
            <a:off x="609600" y="306387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45A4BC-4E17-4B74-A542-9BDF5D0FEB1E}"/>
              </a:ext>
            </a:extLst>
          </p:cNvPr>
          <p:cNvSpPr>
            <a:spLocks noGrp="1"/>
          </p:cNvSpPr>
          <p:nvPr/>
        </p:nvSpPr>
        <p:spPr>
          <a:xfrm>
            <a:off x="1333500" y="3063875"/>
            <a:ext cx="9906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看得到物品，卻不知道中文名稱與讀音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EDA33-3E26-4B27-8984-CB3FD3FFB80E}"/>
              </a:ext>
            </a:extLst>
          </p:cNvPr>
          <p:cNvSpPr>
            <a:spLocks noGrp="1"/>
          </p:cNvSpPr>
          <p:nvPr/>
        </p:nvSpPr>
        <p:spPr>
          <a:xfrm>
            <a:off x="1333500" y="3521075"/>
            <a:ext cx="9906000" cy="796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dirty="0" err="1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rPr>
              <a:t>在生活中遇到想學的東西，希望透過圖片或截圖，知道它用中文怎麼說、怎麼念</a:t>
            </a:r>
            <a:r>
              <a:rPr sz="1800" b="0" dirty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96AA49-7331-40A7-AD21-00D595CE9558}"/>
              </a:ext>
            </a:extLst>
          </p:cNvPr>
          <p:cNvSpPr>
            <a:spLocks noGrp="1"/>
          </p:cNvSpPr>
          <p:nvPr/>
        </p:nvSpPr>
        <p:spPr>
          <a:xfrm>
            <a:off x="609600" y="4365625"/>
            <a:ext cx="52387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2C6DC6-E862-44E8-A445-68E7B035A604}"/>
              </a:ext>
            </a:extLst>
          </p:cNvPr>
          <p:cNvSpPr>
            <a:spLocks noGrp="1"/>
          </p:cNvSpPr>
          <p:nvPr/>
        </p:nvSpPr>
        <p:spPr>
          <a:xfrm>
            <a:off x="1333500" y="4365625"/>
            <a:ext cx="9906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把查到的</a:t>
            </a:r>
            <a:r>
              <a:rPr lang="zh-TW" altLang="en-US" sz="2100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中文</a:t>
            </a:r>
            <a:r>
              <a:rPr sz="2100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接成口說練習</a:t>
            </a:r>
            <a:endParaRPr sz="210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38C30C-D54C-4827-A2AB-1E8B0EF0F3D0}"/>
              </a:ext>
            </a:extLst>
          </p:cNvPr>
          <p:cNvSpPr>
            <a:spLocks noGrp="1"/>
          </p:cNvSpPr>
          <p:nvPr/>
        </p:nvSpPr>
        <p:spPr>
          <a:xfrm>
            <a:off x="1333500" y="4822825"/>
            <a:ext cx="9906000" cy="796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3666A"/>
                </a:solidFill>
                <a:latin typeface="Microsoft JhengHei"/>
                <a:ea typeface="Microsoft JhengHei"/>
                <a:cs typeface="Microsoft JhengHei"/>
              </a:rPr>
              <a:t>因此設計中文口說輔助系統，提供中文與語音示範，再讓使用者跟讀、錄音並取得回饋。</a:t>
            </a:r>
          </a:p>
        </p:txBody>
      </p:sp>
    </p:spTree>
    <p:extLst>
      <p:ext uri="{BB962C8B-B14F-4D97-AF65-F5344CB8AC3E}">
        <p14:creationId xmlns:p14="http://schemas.microsoft.com/office/powerpoint/2010/main" val="1642234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A7A867F-457C-470B-B940-45EB8FD449A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</a:t>
            </a:r>
            <a:endParaRPr sz="1275" b="0" dirty="0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BBD09-A4A8-42F1-8A72-B53601214FB5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  <a:endParaRPr sz="292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72B587B-F94F-A410-087B-927FBF7DC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744" t="15834" r="17560" b="6904"/>
          <a:stretch>
            <a:fillRect/>
          </a:stretch>
        </p:blipFill>
        <p:spPr>
          <a:xfrm>
            <a:off x="1249136" y="1476375"/>
            <a:ext cx="6053300" cy="5259159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145802-B758-7D20-1F0A-275DE9C55E16}"/>
              </a:ext>
            </a:extLst>
          </p:cNvPr>
          <p:cNvSpPr txBox="1"/>
          <p:nvPr/>
        </p:nvSpPr>
        <p:spPr>
          <a:xfrm>
            <a:off x="7976507" y="2473779"/>
            <a:ext cx="39356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畫個圈圈框定物品</a:t>
            </a:r>
            <a:r>
              <a:rPr lang="en-US" altLang="zh-TW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不同的地方是我們的題目是教中文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音準問題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93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7C799718-AF27-4D0E-8572-289215059C3D}"/>
              </a:ext>
            </a:extLst>
          </p:cNvPr>
          <p:cNvCxnSpPr/>
          <p:nvPr/>
        </p:nvCxnSpPr>
        <p:spPr>
          <a:xfrm flipH="1">
            <a:off x="7036594" y="5405436"/>
            <a:ext cx="4622006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FF8FD14-710F-4AC8-9FB2-A65B120237EB}"/>
              </a:ext>
            </a:extLst>
          </p:cNvPr>
          <p:cNvCxnSpPr>
            <a:stCxn id="36" idx="4"/>
          </p:cNvCxnSpPr>
          <p:nvPr/>
        </p:nvCxnSpPr>
        <p:spPr>
          <a:xfrm flipH="1">
            <a:off x="11658600" y="3781425"/>
            <a:ext cx="9525" cy="1666875"/>
          </a:xfrm>
          <a:prstGeom prst="straightConnector1">
            <a:avLst/>
          </a:prstGeom>
          <a:ln w="16193">
            <a:solidFill>
              <a:srgbClr val="12343B"/>
            </a:solidFill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004C2F24-01A1-4271-8AFD-D6900DDAD49F}"/>
              </a:ext>
            </a:extLst>
          </p:cNvPr>
          <p:cNvCxnSpPr>
            <a:stCxn id="36" idx="5"/>
            <a:endCxn id="35" idx="2"/>
          </p:cNvCxnSpPr>
          <p:nvPr/>
        </p:nvCxnSpPr>
        <p:spPr>
          <a:xfrm flipH="1">
            <a:off x="10951369" y="3390900"/>
            <a:ext cx="385763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9A73E52-9186-4110-942C-96A29A6C7999}"/>
              </a:ext>
            </a:extLst>
          </p:cNvPr>
          <p:cNvCxnSpPr>
            <a:stCxn id="35" idx="5"/>
            <a:endCxn id="34" idx="3"/>
          </p:cNvCxnSpPr>
          <p:nvPr/>
        </p:nvCxnSpPr>
        <p:spPr>
          <a:xfrm flipH="1">
            <a:off x="10001250" y="3390900"/>
            <a:ext cx="288131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07D058E-61C3-45CC-BB21-1D92F9E3B200}"/>
              </a:ext>
            </a:extLst>
          </p:cNvPr>
          <p:cNvCxnSpPr>
            <a:stCxn id="34" idx="2"/>
            <a:endCxn id="33" idx="0"/>
          </p:cNvCxnSpPr>
          <p:nvPr/>
        </p:nvCxnSpPr>
        <p:spPr>
          <a:xfrm>
            <a:off x="9477375" y="3781425"/>
            <a:ext cx="0" cy="409575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639DB77-E3AA-4D93-AA45-FA7CCC55C5DD}"/>
              </a:ext>
            </a:extLst>
          </p:cNvPr>
          <p:cNvCxnSpPr>
            <a:stCxn id="33" idx="5"/>
            <a:endCxn id="32" idx="3"/>
          </p:cNvCxnSpPr>
          <p:nvPr/>
        </p:nvCxnSpPr>
        <p:spPr>
          <a:xfrm flipH="1">
            <a:off x="8763000" y="4552950"/>
            <a:ext cx="280988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41969F2-3D9F-449F-BFDF-261BC95AE242}"/>
              </a:ext>
            </a:extLst>
          </p:cNvPr>
          <p:cNvCxnSpPr>
            <a:stCxn id="32" idx="1"/>
            <a:endCxn id="61" idx="2"/>
          </p:cNvCxnSpPr>
          <p:nvPr/>
        </p:nvCxnSpPr>
        <p:spPr>
          <a:xfrm flipH="1">
            <a:off x="6357938" y="4552950"/>
            <a:ext cx="1357312" cy="852487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04D16C3-BAF8-43DC-9FFF-A1257DB2731A}"/>
              </a:ext>
            </a:extLst>
          </p:cNvPr>
          <p:cNvCxnSpPr>
            <a:stCxn id="32" idx="1"/>
            <a:endCxn id="30" idx="2"/>
          </p:cNvCxnSpPr>
          <p:nvPr/>
        </p:nvCxnSpPr>
        <p:spPr>
          <a:xfrm flipH="1">
            <a:off x="6196013" y="4552950"/>
            <a:ext cx="1519237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629472D-9418-4CDE-8126-1BFFB8F2F857}"/>
              </a:ext>
            </a:extLst>
          </p:cNvPr>
          <p:cNvCxnSpPr>
            <a:stCxn id="30" idx="5"/>
            <a:endCxn id="29" idx="3"/>
          </p:cNvCxnSpPr>
          <p:nvPr/>
        </p:nvCxnSpPr>
        <p:spPr>
          <a:xfrm flipH="1">
            <a:off x="5048250" y="4552950"/>
            <a:ext cx="280988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6545E7AE-EDDD-47D8-A85D-7670EC930869}"/>
              </a:ext>
            </a:extLst>
          </p:cNvPr>
          <p:cNvCxnSpPr>
            <a:stCxn id="29" idx="1"/>
            <a:endCxn id="25" idx="2"/>
          </p:cNvCxnSpPr>
          <p:nvPr/>
        </p:nvCxnSpPr>
        <p:spPr>
          <a:xfrm flipH="1" flipV="1">
            <a:off x="3743325" y="3438525"/>
            <a:ext cx="352425" cy="1114425"/>
          </a:xfrm>
          <a:prstGeom prst="bentConnector3">
            <a:avLst>
              <a:gd name="adj1" fmla="val 37838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44ED778E-4927-44CD-BA8A-5EF28716664A}"/>
              </a:ext>
            </a:extLst>
          </p:cNvPr>
          <p:cNvCxnSpPr>
            <a:stCxn id="34" idx="0"/>
            <a:endCxn id="28" idx="2"/>
          </p:cNvCxnSpPr>
          <p:nvPr/>
        </p:nvCxnSpPr>
        <p:spPr>
          <a:xfrm flipH="1" flipV="1">
            <a:off x="6362700" y="2390775"/>
            <a:ext cx="3114675" cy="609600"/>
          </a:xfrm>
          <a:prstGeom prst="bentConnector5">
            <a:avLst>
              <a:gd name="adj1" fmla="val 0"/>
              <a:gd name="adj2" fmla="val 37500"/>
              <a:gd name="adj3" fmla="val 92661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043D97B3-6A2B-492B-AA86-0537572ED760}"/>
              </a:ext>
            </a:extLst>
          </p:cNvPr>
          <p:cNvCxnSpPr>
            <a:stCxn id="28" idx="5"/>
            <a:endCxn id="27" idx="3"/>
          </p:cNvCxnSpPr>
          <p:nvPr/>
        </p:nvCxnSpPr>
        <p:spPr>
          <a:xfrm flipH="1">
            <a:off x="5162550" y="2390775"/>
            <a:ext cx="304800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622A71F-2122-4B36-BFC4-BE4F1DFE27EF}"/>
              </a:ext>
            </a:extLst>
          </p:cNvPr>
          <p:cNvCxnSpPr>
            <a:stCxn id="27" idx="1"/>
            <a:endCxn id="25" idx="2"/>
          </p:cNvCxnSpPr>
          <p:nvPr/>
        </p:nvCxnSpPr>
        <p:spPr>
          <a:xfrm flipH="1">
            <a:off x="3743325" y="2390775"/>
            <a:ext cx="352425" cy="1047750"/>
          </a:xfrm>
          <a:prstGeom prst="bentConnector3">
            <a:avLst>
              <a:gd name="adj1" fmla="val 37838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91F4068-75BD-466E-BA38-7EF783D22692}"/>
              </a:ext>
            </a:extLst>
          </p:cNvPr>
          <p:cNvCxnSpPr>
            <a:stCxn id="26" idx="0"/>
            <a:endCxn id="24" idx="2"/>
          </p:cNvCxnSpPr>
          <p:nvPr/>
        </p:nvCxnSpPr>
        <p:spPr>
          <a:xfrm flipH="1" flipV="1">
            <a:off x="1990725" y="3876675"/>
            <a:ext cx="38100" cy="885825"/>
          </a:xfrm>
          <a:prstGeom prst="bentConnector4">
            <a:avLst>
              <a:gd name="adj1" fmla="val 0"/>
              <a:gd name="adj2" fmla="val 50000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614B708-1060-4F03-AC3E-3762A510362E}"/>
              </a:ext>
            </a:extLst>
          </p:cNvPr>
          <p:cNvCxnSpPr>
            <a:stCxn id="25" idx="5"/>
            <a:endCxn id="24" idx="3"/>
          </p:cNvCxnSpPr>
          <p:nvPr/>
        </p:nvCxnSpPr>
        <p:spPr>
          <a:xfrm flipH="1">
            <a:off x="2524125" y="3438525"/>
            <a:ext cx="323850" cy="0"/>
          </a:xfrm>
          <a:prstGeom prst="straightConnector1">
            <a:avLst/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4E0E48B5-84A5-4F2B-85CE-869FD0B5D852}"/>
              </a:ext>
            </a:extLst>
          </p:cNvPr>
          <p:cNvCxnSpPr>
            <a:stCxn id="24" idx="1"/>
            <a:endCxn id="23" idx="2"/>
          </p:cNvCxnSpPr>
          <p:nvPr/>
        </p:nvCxnSpPr>
        <p:spPr>
          <a:xfrm flipH="1">
            <a:off x="1119188" y="3438525"/>
            <a:ext cx="338138" cy="638175"/>
          </a:xfrm>
          <a:prstGeom prst="bentConnector3">
            <a:avLst>
              <a:gd name="adj1" fmla="val 36620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59FF1E7A-F83C-4714-BF7D-346806CF2ACD}"/>
              </a:ext>
            </a:extLst>
          </p:cNvPr>
          <p:cNvCxnSpPr>
            <a:stCxn id="24" idx="1"/>
            <a:endCxn id="22" idx="2"/>
          </p:cNvCxnSpPr>
          <p:nvPr/>
        </p:nvCxnSpPr>
        <p:spPr>
          <a:xfrm flipH="1" flipV="1">
            <a:off x="1119188" y="2790825"/>
            <a:ext cx="338138" cy="647700"/>
          </a:xfrm>
          <a:prstGeom prst="bentConnector3">
            <a:avLst>
              <a:gd name="adj1" fmla="val 36620"/>
            </a:avLst>
          </a:prstGeom>
          <a:ln w="16193">
            <a:solidFill>
              <a:srgbClr val="12343B"/>
            </a:solidFill>
            <a:headEnd type="arrow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E3CD057-C829-4E12-913E-0E539EF77D2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</a:t>
            </a:r>
            <a:endParaRPr sz="1275" b="0" dirty="0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629FBD-FDF6-4A72-85B9-AA67B28FFC49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中文口說輔助系統架構</a:t>
            </a:r>
          </a:p>
        </p:txBody>
      </p:sp>
      <p:sp>
        <p:nvSpPr>
          <p:cNvPr id="22" name="平行四邊形 21">
            <a:extLst>
              <a:ext uri="{FF2B5EF4-FFF2-40B4-BE49-F238E27FC236}">
                <a16:creationId xmlns:a16="http://schemas.microsoft.com/office/drawing/2014/main" id="{CD43C11D-A519-4926-84ED-04992D64EF35}"/>
              </a:ext>
            </a:extLst>
          </p:cNvPr>
          <p:cNvSpPr>
            <a:spLocks noGrp="1"/>
          </p:cNvSpPr>
          <p:nvPr/>
        </p:nvSpPr>
        <p:spPr>
          <a:xfrm>
            <a:off x="142875" y="2428875"/>
            <a:ext cx="1066800" cy="7239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23" name="平行四邊形 22">
            <a:extLst>
              <a:ext uri="{FF2B5EF4-FFF2-40B4-BE49-F238E27FC236}">
                <a16:creationId xmlns:a16="http://schemas.microsoft.com/office/drawing/2014/main" id="{D1A003A7-6696-4202-BF1E-BA4B93E8FBE8}"/>
              </a:ext>
            </a:extLst>
          </p:cNvPr>
          <p:cNvSpPr>
            <a:spLocks noGrp="1"/>
          </p:cNvSpPr>
          <p:nvPr/>
        </p:nvSpPr>
        <p:spPr>
          <a:xfrm>
            <a:off x="142875" y="3714750"/>
            <a:ext cx="1066800" cy="7239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0DE855-E91F-4FBC-B149-823BA961462A}"/>
              </a:ext>
            </a:extLst>
          </p:cNvPr>
          <p:cNvSpPr>
            <a:spLocks noGrp="1"/>
          </p:cNvSpPr>
          <p:nvPr/>
        </p:nvSpPr>
        <p:spPr>
          <a:xfrm>
            <a:off x="1457325" y="3000375"/>
            <a:ext cx="1066800" cy="87630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圖片理解與</a:t>
            </a:r>
          </a:p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句子生成</a:t>
            </a:r>
          </a:p>
        </p:txBody>
      </p:sp>
      <p:sp>
        <p:nvSpPr>
          <p:cNvPr id="25" name="平行四邊形 24">
            <a:extLst>
              <a:ext uri="{FF2B5EF4-FFF2-40B4-BE49-F238E27FC236}">
                <a16:creationId xmlns:a16="http://schemas.microsoft.com/office/drawing/2014/main" id="{6DE47799-622D-4DA2-BF4E-2119E3F0AC61}"/>
              </a:ext>
            </a:extLst>
          </p:cNvPr>
          <p:cNvSpPr>
            <a:spLocks noGrp="1"/>
          </p:cNvSpPr>
          <p:nvPr/>
        </p:nvSpPr>
        <p:spPr>
          <a:xfrm>
            <a:off x="2762250" y="3095625"/>
            <a:ext cx="1066800" cy="6858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26" name="平行四邊形 25">
            <a:extLst>
              <a:ext uri="{FF2B5EF4-FFF2-40B4-BE49-F238E27FC236}">
                <a16:creationId xmlns:a16="http://schemas.microsoft.com/office/drawing/2014/main" id="{EF8C2AFF-78FC-41DA-BB3F-E5388A69454D}"/>
              </a:ext>
            </a:extLst>
          </p:cNvPr>
          <p:cNvSpPr>
            <a:spLocks noGrp="1"/>
          </p:cNvSpPr>
          <p:nvPr/>
        </p:nvSpPr>
        <p:spPr>
          <a:xfrm>
            <a:off x="1457325" y="4762500"/>
            <a:ext cx="1143000" cy="6858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02CD90-E655-42F4-A5DB-149E1AB92765}"/>
              </a:ext>
            </a:extLst>
          </p:cNvPr>
          <p:cNvSpPr>
            <a:spLocks noGrp="1"/>
          </p:cNvSpPr>
          <p:nvPr/>
        </p:nvSpPr>
        <p:spPr>
          <a:xfrm>
            <a:off x="4095750" y="2047875"/>
            <a:ext cx="1066800" cy="68580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文字轉拼音</a:t>
            </a:r>
          </a:p>
        </p:txBody>
      </p:sp>
      <p:sp>
        <p:nvSpPr>
          <p:cNvPr id="28" name="平行四邊形 27">
            <a:extLst>
              <a:ext uri="{FF2B5EF4-FFF2-40B4-BE49-F238E27FC236}">
                <a16:creationId xmlns:a16="http://schemas.microsoft.com/office/drawing/2014/main" id="{DFACCDDD-1526-4692-9196-AE29BA8D9498}"/>
              </a:ext>
            </a:extLst>
          </p:cNvPr>
          <p:cNvSpPr>
            <a:spLocks noGrp="1"/>
          </p:cNvSpPr>
          <p:nvPr/>
        </p:nvSpPr>
        <p:spPr>
          <a:xfrm>
            <a:off x="5381625" y="2047875"/>
            <a:ext cx="1066800" cy="6858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1B94067-7389-4CF9-8AC0-A563402C69B7}"/>
              </a:ext>
            </a:extLst>
          </p:cNvPr>
          <p:cNvSpPr>
            <a:spLocks noGrp="1"/>
          </p:cNvSpPr>
          <p:nvPr/>
        </p:nvSpPr>
        <p:spPr>
          <a:xfrm>
            <a:off x="4095750" y="4191000"/>
            <a:ext cx="952500" cy="72390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文字</a:t>
            </a:r>
          </a:p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轉語音</a:t>
            </a:r>
          </a:p>
        </p:txBody>
      </p:sp>
      <p:sp>
        <p:nvSpPr>
          <p:cNvPr id="30" name="平行四邊形 29">
            <a:extLst>
              <a:ext uri="{FF2B5EF4-FFF2-40B4-BE49-F238E27FC236}">
                <a16:creationId xmlns:a16="http://schemas.microsoft.com/office/drawing/2014/main" id="{1535D193-17D7-4811-8155-B3D3579E6694}"/>
              </a:ext>
            </a:extLst>
          </p:cNvPr>
          <p:cNvSpPr>
            <a:spLocks noGrp="1"/>
          </p:cNvSpPr>
          <p:nvPr/>
        </p:nvSpPr>
        <p:spPr>
          <a:xfrm>
            <a:off x="5238750" y="4191000"/>
            <a:ext cx="1047750" cy="7239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2CFD62-4B1B-49A9-8807-BF1048EFB1FE}"/>
              </a:ext>
            </a:extLst>
          </p:cNvPr>
          <p:cNvSpPr>
            <a:spLocks noGrp="1"/>
          </p:cNvSpPr>
          <p:nvPr/>
        </p:nvSpPr>
        <p:spPr>
          <a:xfrm>
            <a:off x="7715250" y="4191000"/>
            <a:ext cx="1047750" cy="72390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語音</a:t>
            </a:r>
          </a:p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轉拼音</a:t>
            </a:r>
          </a:p>
        </p:txBody>
      </p:sp>
      <p:sp>
        <p:nvSpPr>
          <p:cNvPr id="33" name="平行四邊形 32">
            <a:extLst>
              <a:ext uri="{FF2B5EF4-FFF2-40B4-BE49-F238E27FC236}">
                <a16:creationId xmlns:a16="http://schemas.microsoft.com/office/drawing/2014/main" id="{CDEE8633-D8BB-4359-87C1-5994BB47FA78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047750" cy="7239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F60437-6A89-4DD0-9044-33383FF10757}"/>
              </a:ext>
            </a:extLst>
          </p:cNvPr>
          <p:cNvSpPr>
            <a:spLocks noGrp="1"/>
          </p:cNvSpPr>
          <p:nvPr/>
        </p:nvSpPr>
        <p:spPr>
          <a:xfrm>
            <a:off x="8953500" y="3000375"/>
            <a:ext cx="1047750" cy="78105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序列對齊與</a:t>
            </a:r>
          </a:p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拼音比對</a:t>
            </a:r>
          </a:p>
        </p:txBody>
      </p:sp>
      <p:sp>
        <p:nvSpPr>
          <p:cNvPr id="35" name="平行四邊形 34">
            <a:extLst>
              <a:ext uri="{FF2B5EF4-FFF2-40B4-BE49-F238E27FC236}">
                <a16:creationId xmlns:a16="http://schemas.microsoft.com/office/drawing/2014/main" id="{0BA3D31E-47B6-4B28-BFE6-2D041A8379C5}"/>
              </a:ext>
            </a:extLst>
          </p:cNvPr>
          <p:cNvSpPr>
            <a:spLocks noGrp="1"/>
          </p:cNvSpPr>
          <p:nvPr/>
        </p:nvSpPr>
        <p:spPr>
          <a:xfrm>
            <a:off x="10191750" y="3000375"/>
            <a:ext cx="857250" cy="78105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36" name="平行四邊形 35">
            <a:extLst>
              <a:ext uri="{FF2B5EF4-FFF2-40B4-BE49-F238E27FC236}">
                <a16:creationId xmlns:a16="http://schemas.microsoft.com/office/drawing/2014/main" id="{DC703770-30F9-46FA-AA19-2A801B237E2B}"/>
              </a:ext>
            </a:extLst>
          </p:cNvPr>
          <p:cNvSpPr>
            <a:spLocks noGrp="1"/>
          </p:cNvSpPr>
          <p:nvPr/>
        </p:nvSpPr>
        <p:spPr>
          <a:xfrm>
            <a:off x="11239500" y="3000375"/>
            <a:ext cx="857250" cy="78105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C46C6D-D11D-49DC-ABF1-1008712820D2}"/>
              </a:ext>
            </a:extLst>
          </p:cNvPr>
          <p:cNvSpPr>
            <a:spLocks noGrp="1"/>
          </p:cNvSpPr>
          <p:nvPr/>
        </p:nvSpPr>
        <p:spPr>
          <a:xfrm>
            <a:off x="11649075" y="56007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D7FEC4-D3A4-467C-80E1-C57DCD37C107}"/>
              </a:ext>
            </a:extLst>
          </p:cNvPr>
          <p:cNvSpPr>
            <a:spLocks noGrp="1"/>
          </p:cNvSpPr>
          <p:nvPr/>
        </p:nvSpPr>
        <p:spPr>
          <a:xfrm>
            <a:off x="6991350" y="5600700"/>
            <a:ext cx="19050" cy="19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BCCC2C-0342-48CF-B3FF-E89B2200989D}"/>
              </a:ext>
            </a:extLst>
          </p:cNvPr>
          <p:cNvSpPr>
            <a:spLocks noGrp="1"/>
          </p:cNvSpPr>
          <p:nvPr/>
        </p:nvSpPr>
        <p:spPr>
          <a:xfrm>
            <a:off x="9048750" y="5462585"/>
            <a:ext cx="2095500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重新練習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CC69366-7222-4491-866D-5E0F1D7C7AA5}"/>
              </a:ext>
            </a:extLst>
          </p:cNvPr>
          <p:cNvSpPr>
            <a:spLocks noGrp="1"/>
          </p:cNvSpPr>
          <p:nvPr/>
        </p:nvSpPr>
        <p:spPr>
          <a:xfrm>
            <a:off x="142875" y="2428875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生活圖片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／截圖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17D09CB-6C78-49A0-8EFB-4C4CCC04A96A}"/>
              </a:ext>
            </a:extLst>
          </p:cNvPr>
          <p:cNvSpPr>
            <a:spLocks noGrp="1"/>
          </p:cNvSpPr>
          <p:nvPr/>
        </p:nvSpPr>
        <p:spPr>
          <a:xfrm>
            <a:off x="142875" y="37147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英文需求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3B149B-1C93-4CF3-BD84-522467F9E3E9}"/>
              </a:ext>
            </a:extLst>
          </p:cNvPr>
          <p:cNvSpPr>
            <a:spLocks noGrp="1"/>
          </p:cNvSpPr>
          <p:nvPr/>
        </p:nvSpPr>
        <p:spPr>
          <a:xfrm>
            <a:off x="2762250" y="3095625"/>
            <a:ext cx="106680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中文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練習句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E16E94D-50A1-4BEC-A708-5E4E4BC5FC58}"/>
              </a:ext>
            </a:extLst>
          </p:cNvPr>
          <p:cNvSpPr>
            <a:spLocks noGrp="1"/>
          </p:cNvSpPr>
          <p:nvPr/>
        </p:nvSpPr>
        <p:spPr>
          <a:xfrm>
            <a:off x="1457325" y="4762500"/>
            <a:ext cx="114300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英文意思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13EFFE0-1CB3-4EBC-8CC5-9EBED9C1B426}"/>
              </a:ext>
            </a:extLst>
          </p:cNvPr>
          <p:cNvSpPr>
            <a:spLocks noGrp="1"/>
          </p:cNvSpPr>
          <p:nvPr/>
        </p:nvSpPr>
        <p:spPr>
          <a:xfrm>
            <a:off x="5381625" y="2047875"/>
            <a:ext cx="106680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目標拼音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431178A-9A91-49E9-A541-C6602AAD3E7A}"/>
              </a:ext>
            </a:extLst>
          </p:cNvPr>
          <p:cNvSpPr>
            <a:spLocks noGrp="1"/>
          </p:cNvSpPr>
          <p:nvPr/>
        </p:nvSpPr>
        <p:spPr>
          <a:xfrm>
            <a:off x="5238750" y="4191000"/>
            <a:ext cx="1047750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中文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示範語音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EEB3B82-DB96-4C42-99CC-0F9BEB416FD9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047750" cy="723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辨識出的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拼音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55A0EE7-A7A5-40DF-A22B-0F4510784573}"/>
              </a:ext>
            </a:extLst>
          </p:cNvPr>
          <p:cNvSpPr>
            <a:spLocks noGrp="1"/>
          </p:cNvSpPr>
          <p:nvPr/>
        </p:nvSpPr>
        <p:spPr>
          <a:xfrm>
            <a:off x="10191750" y="3000375"/>
            <a:ext cx="857250" cy="781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標示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錯誤</a:t>
            </a:r>
          </a:p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位置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DA3651F-6616-462E-A833-C043F6D63CBF}"/>
              </a:ext>
            </a:extLst>
          </p:cNvPr>
          <p:cNvSpPr>
            <a:spLocks noGrp="1"/>
          </p:cNvSpPr>
          <p:nvPr/>
        </p:nvSpPr>
        <p:spPr>
          <a:xfrm>
            <a:off x="11239500" y="3000375"/>
            <a:ext cx="857250" cy="781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2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dirty="0" err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回饋</a:t>
            </a:r>
            <a:endParaRPr sz="127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1" name="平行四邊形 60">
            <a:extLst>
              <a:ext uri="{FF2B5EF4-FFF2-40B4-BE49-F238E27FC236}">
                <a16:creationId xmlns:a16="http://schemas.microsoft.com/office/drawing/2014/main" id="{0912121E-EA41-9182-845B-6DD7C4E67B8B}"/>
              </a:ext>
            </a:extLst>
          </p:cNvPr>
          <p:cNvSpPr>
            <a:spLocks noGrp="1"/>
          </p:cNvSpPr>
          <p:nvPr/>
        </p:nvSpPr>
        <p:spPr>
          <a:xfrm>
            <a:off x="4876800" y="5043487"/>
            <a:ext cx="1571625" cy="7239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使用者錄製</a:t>
            </a:r>
          </a:p>
          <a:p>
            <a:pPr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整句中文</a:t>
            </a:r>
          </a:p>
        </p:txBody>
      </p:sp>
      <p:sp>
        <p:nvSpPr>
          <p:cNvPr id="31" name="平行四邊形 30">
            <a:extLst>
              <a:ext uri="{FF2B5EF4-FFF2-40B4-BE49-F238E27FC236}">
                <a16:creationId xmlns:a16="http://schemas.microsoft.com/office/drawing/2014/main" id="{4187DB17-9F13-7185-D95C-4B5E4DCC319F}"/>
              </a:ext>
            </a:extLst>
          </p:cNvPr>
          <p:cNvSpPr>
            <a:spLocks noGrp="1"/>
          </p:cNvSpPr>
          <p:nvPr/>
        </p:nvSpPr>
        <p:spPr>
          <a:xfrm>
            <a:off x="8239125" y="710975"/>
            <a:ext cx="1066800" cy="68580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dirty="0"/>
              <a:t>資料</a:t>
            </a:r>
            <a:endParaRPr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9500206-3FC8-D977-951D-9797BC4F2418}"/>
              </a:ext>
            </a:extLst>
          </p:cNvPr>
          <p:cNvSpPr>
            <a:spLocks noGrp="1"/>
          </p:cNvSpPr>
          <p:nvPr/>
        </p:nvSpPr>
        <p:spPr>
          <a:xfrm>
            <a:off x="9611915" y="710975"/>
            <a:ext cx="1066800" cy="685800"/>
          </a:xfrm>
          <a:prstGeom prst="rect">
            <a:avLst/>
          </a:prstGeom>
          <a:solidFill>
            <a:srgbClr val="E6EFEB"/>
          </a:solidFill>
          <a:ln w="15240">
            <a:solidFill>
              <a:srgbClr val="12343B"/>
            </a:solidFill>
          </a:ln>
        </p:spPr>
        <p:txBody>
          <a:bodyPr anchor="ctr"/>
          <a:lstStyle>
            <a:defPPr algn="ctr"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 algn="ctr">
              <a:buNone/>
              <a:defRPr sz="135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1350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模塊</a:t>
            </a:r>
            <a:endParaRPr sz="1350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775431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129FCE1-4E15-4EA1-AF89-48BCE70FA6E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</a:t>
            </a:r>
            <a:endParaRPr sz="1275" b="0" dirty="0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F5E3A-40B8-4B1F-8452-A989D88555E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圖片理解與語音示範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C412E0-CD97-4D34-B45F-82321D6E029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看圖產生中文：VLM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492489-AC43-40E1-A8FE-3FD630BAA9D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候選：Qwen2.5-VL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B5D8E3E-2B30-4517-A669-BE737AE75BE6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51435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輸入圖片與英文需求</a:t>
            </a:r>
          </a:p>
          <a:p>
            <a: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產生中文練習句及英文意思</a:t>
            </a:r>
          </a:p>
          <a:p>
            <a:pPr>
              <a:buNone/>
              <a:def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限制句子長度，使用初學者詞彙</a:t>
            </a:r>
          </a:p>
        </p:txBody>
      </p:sp>
    </p:spTree>
    <p:extLst>
      <p:ext uri="{BB962C8B-B14F-4D97-AF65-F5344CB8AC3E}">
        <p14:creationId xmlns:p14="http://schemas.microsoft.com/office/powerpoint/2010/main" val="440491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4A8371-D1BF-4984-A433-92FF3BD94B7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　4. 實現方法技術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8DA7D6-B808-43F4-81AF-CCFD944C221B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拼音比對與矯正回饋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D198CB-AB8F-4D33-AABE-CB87A7B7A7C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目標拼音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1E9776-FE0B-45A9-BE0D-D0373C76F428}"/>
              </a:ext>
            </a:extLst>
          </p:cNvPr>
          <p:cNvSpPr>
            <a:spLocks noGrp="1"/>
          </p:cNvSpPr>
          <p:nvPr/>
        </p:nvSpPr>
        <p:spPr>
          <a:xfrm>
            <a:off x="2952750" y="1809750"/>
            <a:ext cx="838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wo3 yao4 mai3 nai3 cha2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9FAAE3-91C4-4DBB-832A-6254C394C0A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辨識拼音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D17BA0-2F15-49C7-86D9-5BAC86DBD924}"/>
              </a:ext>
            </a:extLst>
          </p:cNvPr>
          <p:cNvSpPr>
            <a:spLocks noGrp="1"/>
          </p:cNvSpPr>
          <p:nvPr/>
        </p:nvSpPr>
        <p:spPr>
          <a:xfrm>
            <a:off x="2952750" y="2667000"/>
            <a:ext cx="8382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9A6025"/>
                </a:solidFill>
                <a:latin typeface="Microsoft JhengHei"/>
                <a:ea typeface="Microsoft JhengHei"/>
                <a:cs typeface="Microsoft JhengHei"/>
              </a:rPr>
              <a:t>wo3 yao4 mai3 lai3 cha2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96E0E5-EC80-49D3-8C32-4219BE36C94B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預計回饋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82CB3B-D778-4E45-A977-392C5415ACBA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06680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第 4 個音節疑似將 n 念成 l。</a:t>
            </a:r>
          </a:p>
          <a:p>
            <a:pPr>
              <a:buNone/>
              <a:def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顯示英文發音提示，提供示範與重錄練習。</a:t>
            </a:r>
          </a:p>
        </p:txBody>
      </p:sp>
    </p:spTree>
    <p:extLst>
      <p:ext uri="{BB962C8B-B14F-4D97-AF65-F5344CB8AC3E}">
        <p14:creationId xmlns:p14="http://schemas.microsoft.com/office/powerpoint/2010/main" val="962195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D9AD241-36A3-48AC-99E1-1AFAE01A1D0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2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第二段</a:t>
            </a:r>
            <a:endParaRPr sz="1275" b="0" dirty="0">
              <a:solidFill>
                <a:srgbClr val="187A7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F4B991-46C6-4672-82CB-594180C78F3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英文矯正回饋：把拼音差異變成練習提示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0ACC21-4211-4521-B527-C615BECD2A8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950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87A73"/>
                </a:solidFill>
                <a:latin typeface="Microsoft JhengHei"/>
                <a:ea typeface="Microsoft JhengHei"/>
                <a:cs typeface="Microsoft JhengHei"/>
              </a:rPr>
              <a:t>將正確拼音與辨識結果逐項對照，找出疑似讀錯、漏讀或多讀的位置。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56071D-60D7-47F0-9D87-63B99924F8B8}"/>
              </a:ext>
            </a:extLst>
          </p:cNvPr>
          <p:cNvGraphicFramePr/>
          <p:nvPr/>
        </p:nvGraphicFramePr>
        <p:xfrm>
          <a:off x="609600" y="2524125"/>
          <a:ext cx="10972800" cy="14287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位置</a:t>
                      </a:r>
                    </a:p>
                  </a:txBody>
                  <a:tcPr anchor="ctr">
                    <a:lnL w="9525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目標拼音</a:t>
                      </a: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辨識拼音</a:t>
                      </a: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疑似差異</a:t>
                      </a: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個音節：奶</a:t>
                      </a:r>
                    </a:p>
                  </a:txBody>
                  <a:tcPr anchor="ctr">
                    <a:lnL w="9525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 cmpd="sng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nai3</a:t>
                      </a: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 cmpd="sng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lai3</a:t>
                      </a: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 cmpd="sng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聲母</a:t>
                      </a:r>
                      <a:r>
                        <a:rPr sz="1800" b="0" dirty="0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234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n／l</a:t>
                      </a:r>
                      <a:endParaRPr sz="1800" b="0" dirty="0">
                        <a:solidFill>
                          <a:srgbClr val="12343B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anchor="ctr">
                    <a:lnL w="9525" cmpd="sng">
                      <a:solidFill>
                        <a:srgbClr val="D8E0DD"/>
                      </a:solidFill>
                      <a:prstDash val="solid"/>
                    </a:lnL>
                    <a:lnR w="9525">
                      <a:solidFill>
                        <a:srgbClr val="D8E0DD"/>
                      </a:solidFill>
                      <a:prstDash val="solid"/>
                    </a:lnR>
                    <a:lnT w="9525" cmpd="sng">
                      <a:solidFill>
                        <a:srgbClr val="D8E0DD"/>
                      </a:solidFill>
                      <a:prstDash val="solid"/>
                    </a:lnT>
                    <a:lnB w="9525">
                      <a:solidFill>
                        <a:srgbClr val="D8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BC7DA11-0614-446C-8980-0E98B097A806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例如 n／l 疑似讀錯，就顯示對應的英文發音提示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6773B8-0146-4184-9B4E-90FB18F44D2C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“The initial in ‘nai’ may sound like ‘l’. Try ‘n’: place your tongue tip</a:t>
            </a:r>
          </a:p>
          <a:p>
            <a: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on the ridge behind your upper teeth and let air flow through your nose.”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1BB879-747B-4C64-8E9F-6B00FA0F1398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標示原句位置，提供重播示範與重新錄音，讓使用者再次練習。</a:t>
            </a:r>
          </a:p>
        </p:txBody>
      </p:sp>
    </p:spTree>
    <p:extLst>
      <p:ext uri="{BB962C8B-B14F-4D97-AF65-F5344CB8AC3E}">
        <p14:creationId xmlns:p14="http://schemas.microsoft.com/office/powerpoint/2010/main" val="896767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7CDA-4379-2554-EB8E-E43807CC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9FD430-AFB2-E576-FAC2-33C5CEC1A0AC}"/>
              </a:ext>
            </a:extLst>
          </p:cNvPr>
          <p:cNvSpPr>
            <a:spLocks noGrp="1"/>
          </p:cNvSpPr>
          <p:nvPr/>
        </p:nvSpPr>
        <p:spPr>
          <a:xfrm>
            <a:off x="5316612" y="2913947"/>
            <a:ext cx="1071662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>
            <a:pPr>
              <a:buNone/>
              <a:defRPr sz="2925" b="1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2925" b="1" dirty="0">
                <a:solidFill>
                  <a:srgbClr val="12343B"/>
                </a:solidFill>
                <a:latin typeface="Microsoft JhengHei"/>
                <a:ea typeface="Microsoft JhengHei"/>
                <a:cs typeface="Microsoft JhengHei"/>
              </a:rPr>
              <a:t>END</a:t>
            </a:r>
            <a:endParaRPr sz="2925" b="1" dirty="0">
              <a:solidFill>
                <a:srgbClr val="12343B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294537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1155</Words>
  <Application>Microsoft Office PowerPoint</Application>
  <DocSecurity>0</DocSecurity>
  <PresentationFormat>寬螢幕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Microsoft JhengHei</vt:lpstr>
      <vt:lpstr>Arial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張宸瑋</cp:lastModifiedBy>
  <cp:revision>4</cp:revision>
  <dcterms:created xsi:type="dcterms:W3CDTF">2026-10-21T08:46:45Z</dcterms:created>
  <dcterms:modified xsi:type="dcterms:W3CDTF">2026-10-21T11:13:44Z</dcterms:modified>
</cp:coreProperties>
</file>